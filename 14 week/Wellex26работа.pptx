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embeddedFontLst>
    <p:embeddedFont>
      <p:font typeface="Instrument Sans Medium" pitchFamily="2" charset="0"/>
      <p:regular r:id="rId15"/>
    </p:embeddedFont>
    <p:embeddedFont>
      <p:font typeface="Inter" panose="02000503000000020004" pitchFamily="2" charset="0"/>
      <p:regular r:id="rId1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23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49"/>
    <p:restoredTop sz="94610"/>
  </p:normalViewPr>
  <p:slideViewPr>
    <p:cSldViewPr snapToGrid="0" snapToObjects="1">
      <p:cViewPr varScale="1">
        <p:scale>
          <a:sx n="296" d="100"/>
          <a:sy n="296" d="100"/>
        </p:scale>
        <p:origin x="7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65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B8069-6293-62A7-136F-D219C972F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FDA77-78A4-7CFF-7858-F3C099D03D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B1014B-4848-45DA-A555-A351FD28D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F4F94-4987-FBFB-EF75-83A92CC1E0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143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D8F36-F7C9-C987-B737-89AA309C0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E3A620-5BED-C6C3-D0D9-9579311D7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549CAA-90D6-419F-CDBF-AEFA56196A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271D5-5D92-AC6E-CD0C-B2F042DA12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534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68846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Wellex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268537"/>
            <a:ext cx="47227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Платформа прогнозных рынков для торговли вероятностями реальных событий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3925119" y="1924050"/>
            <a:ext cx="2290465" cy="1491928"/>
          </a:xfrm>
          <a:prstGeom prst="roundRect">
            <a:avLst>
              <a:gd name="adj" fmla="val 1425"/>
            </a:avLst>
          </a:prstGeom>
          <a:solidFill>
            <a:srgbClr val="434348"/>
          </a:solidFill>
          <a:ln/>
        </p:spPr>
      </p:sp>
      <p:sp>
        <p:nvSpPr>
          <p:cNvPr id="6" name="Text 3"/>
          <p:cNvSpPr/>
          <p:nvPr/>
        </p:nvSpPr>
        <p:spPr>
          <a:xfrm>
            <a:off x="4066877" y="2065809"/>
            <a:ext cx="200694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Торговля вероятностями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66877" y="2593777"/>
            <a:ext cx="20069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Пользователи покупают и продают вероятности реальных событий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7342" y="1924050"/>
            <a:ext cx="2290539" cy="1491928"/>
          </a:xfrm>
          <a:prstGeom prst="roundRect">
            <a:avLst>
              <a:gd name="adj" fmla="val 1425"/>
            </a:avLst>
          </a:prstGeom>
          <a:solidFill>
            <a:srgbClr val="434348"/>
          </a:solidFill>
          <a:ln/>
        </p:spPr>
      </p:sp>
      <p:sp>
        <p:nvSpPr>
          <p:cNvPr id="9" name="Text 6"/>
          <p:cNvSpPr/>
          <p:nvPr/>
        </p:nvSpPr>
        <p:spPr>
          <a:xfrm>
            <a:off x="6499101" y="206580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Механика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99101" y="2372320"/>
            <a:ext cx="20070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YES/NO markets + AMM + лимитные ордера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25119" y="3557736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434348"/>
          </a:solidFill>
          <a:ln/>
        </p:spPr>
      </p:sp>
      <p:sp>
        <p:nvSpPr>
          <p:cNvPr id="12" name="Text 9"/>
          <p:cNvSpPr/>
          <p:nvPr/>
        </p:nvSpPr>
        <p:spPr>
          <a:xfrm>
            <a:off x="4066877" y="369949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Монетизация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66877" y="4006007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Торговые комиссии с каждой сделки</a:t>
            </a:r>
            <a:endParaRPr lang="en-US" sz="110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426B037-49A9-3C64-CFC8-9B0D20DBF6E7}"/>
              </a:ext>
            </a:extLst>
          </p:cNvPr>
          <p:cNvSpPr/>
          <p:nvPr/>
        </p:nvSpPr>
        <p:spPr>
          <a:xfrm>
            <a:off x="7860406" y="4696496"/>
            <a:ext cx="1283594" cy="447004"/>
          </a:xfrm>
          <a:prstGeom prst="rect">
            <a:avLst/>
          </a:prstGeom>
          <a:solidFill>
            <a:srgbClr val="2323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96119" y="481013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Проблема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127835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Сегодня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1641574"/>
            <a:ext cx="3902943" cy="1233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Прогнозы людей разбросаны по соцсетям, форумам и чатам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Букмекеры ограничены фиксированными линиями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Нет локальной prediction market платформы для СНГ-аудитории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96119" y="301652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Последствия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96119" y="3379738"/>
            <a:ext cx="3902943" cy="1233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Невозможно эффективно монетизировать экспертность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Отсутствует прозрачная рыночная оценка вероятностей событий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Пользователи уходят в серые и неудобные решения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47605" y="1136600"/>
            <a:ext cx="4107135" cy="3525887"/>
          </a:xfrm>
          <a:prstGeom prst="roundRect">
            <a:avLst>
              <a:gd name="adj" fmla="val 603"/>
            </a:avLst>
          </a:prstGeom>
          <a:solidFill>
            <a:srgbClr val="FDC4C4"/>
          </a:solidFill>
          <a:ln/>
        </p:spPr>
      </p:sp>
      <p:sp>
        <p:nvSpPr>
          <p:cNvPr id="10" name="Text 7"/>
          <p:cNvSpPr/>
          <p:nvPr/>
        </p:nvSpPr>
        <p:spPr>
          <a:xfrm>
            <a:off x="4789363" y="127835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Сигнал рынка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789363" y="1641574"/>
            <a:ext cx="382361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Рост популярности </a:t>
            </a:r>
            <a:r>
              <a:rPr lang="en-US" sz="11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Polymarket</a:t>
            </a: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показывает высокий спрос на prediction markets.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89363" y="2254672"/>
            <a:ext cx="3823618" cy="829196"/>
          </a:xfrm>
          <a:prstGeom prst="roundRect">
            <a:avLst>
              <a:gd name="adj" fmla="val 2565"/>
            </a:avLst>
          </a:prstGeom>
          <a:solidFill>
            <a:srgbClr val="022349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1122" y="2469728"/>
            <a:ext cx="177180" cy="14175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50061" y="2431852"/>
            <a:ext cx="322116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Основание: открытые данные рынка prediction platforms + допущение команды.</a:t>
            </a:r>
            <a:endParaRPr lang="en-US" sz="11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567FE31-7558-329F-4CCA-63719E51A88A}"/>
              </a:ext>
            </a:extLst>
          </p:cNvPr>
          <p:cNvSpPr/>
          <p:nvPr/>
        </p:nvSpPr>
        <p:spPr>
          <a:xfrm>
            <a:off x="7860406" y="4696496"/>
            <a:ext cx="1283594" cy="447004"/>
          </a:xfrm>
          <a:prstGeom prst="rect">
            <a:avLst/>
          </a:prstGeom>
          <a:solidFill>
            <a:srgbClr val="2323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41003"/>
            <a:ext cx="2480890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Целевая аудитория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496119" y="1090017"/>
            <a:ext cx="991939" cy="167506"/>
          </a:xfrm>
          <a:prstGeom prst="roundRect">
            <a:avLst>
              <a:gd name="adj" fmla="val 7109"/>
            </a:avLst>
          </a:prstGeom>
          <a:solidFill>
            <a:srgbClr val="4A0303"/>
          </a:solidFill>
          <a:ln/>
        </p:spPr>
      </p:sp>
      <p:sp>
        <p:nvSpPr>
          <p:cNvPr id="4" name="Text 2"/>
          <p:cNvSpPr/>
          <p:nvPr/>
        </p:nvSpPr>
        <p:spPr>
          <a:xfrm>
            <a:off x="555650" y="1119783"/>
            <a:ext cx="872877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ОСНОВНОЙ СЕГМЕНТ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96119" y="1285280"/>
            <a:ext cx="6028804" cy="248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Трейдеры и пользователи betting/crypto-аудитории 20–35 лет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96119" y="1561058"/>
            <a:ext cx="1356196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JTBD (Jobs To Be Done)</a:t>
            </a:r>
            <a:endParaRPr lang="en-US" sz="9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820242"/>
            <a:ext cx="248022" cy="2480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6119" y="2155031"/>
            <a:ext cx="248505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Зарабатывать на собственных прогнозах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96119" y="2351708"/>
            <a:ext cx="4032498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Монетизировать понимание рынка, новостей и вероятностей через ставки на исходы событий.</a:t>
            </a:r>
            <a:endParaRPr lang="en-US" sz="7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5383" y="1820242"/>
            <a:ext cx="248022" cy="24802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5383" y="2155031"/>
            <a:ext cx="1923827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Быстро реагировать на новости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615383" y="2351708"/>
            <a:ext cx="4032498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Мгновенно отыгрывать инфоповоды, твиты, заявления и рыночные движения без долгого анализа.</a:t>
            </a:r>
            <a:endParaRPr lang="en-US" sz="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760613"/>
            <a:ext cx="248022" cy="24802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6119" y="3095402"/>
            <a:ext cx="2146995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Торговать событиями как активами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496119" y="3292078"/>
            <a:ext cx="4032498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Использовать события как отдельный класс активов: входить, выходить и фиксировать прибыль по мере изменения вероятностей.</a:t>
            </a:r>
            <a:endParaRPr lang="en-US" sz="7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15383" y="2760613"/>
            <a:ext cx="248022" cy="24802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615383" y="3095402"/>
            <a:ext cx="2425526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Участвовать в community-driven рынках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4615383" y="3292078"/>
            <a:ext cx="4032498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Прогнозировать вместе с комьюнити, сверять мнение с рынком и находить лучшие точки входа на основе коллективного сигнала.</a:t>
            </a:r>
            <a:endParaRPr lang="en-US" sz="7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700983"/>
            <a:ext cx="248022" cy="24802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96119" y="4035772"/>
            <a:ext cx="2275433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Управлять риском через вероятности</a:t>
            </a:r>
            <a:endParaRPr lang="en-US" sz="950" dirty="0"/>
          </a:p>
        </p:txBody>
      </p:sp>
      <p:sp>
        <p:nvSpPr>
          <p:cNvPr id="21" name="Text 14"/>
          <p:cNvSpPr/>
          <p:nvPr/>
        </p:nvSpPr>
        <p:spPr>
          <a:xfrm>
            <a:off x="496119" y="4232449"/>
            <a:ext cx="4032498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Снижать зависимость от интуиции и ставить только там, где риск/доходность выглядит оправданным.</a:t>
            </a:r>
            <a:endParaRPr lang="en-US" sz="7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15383" y="3700983"/>
            <a:ext cx="248022" cy="24802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615383" y="4035772"/>
            <a:ext cx="2510954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Не упускать короткие окна возможностей</a:t>
            </a:r>
            <a:endParaRPr lang="en-US" sz="950" dirty="0"/>
          </a:p>
        </p:txBody>
      </p:sp>
      <p:sp>
        <p:nvSpPr>
          <p:cNvPr id="24" name="Text 16"/>
          <p:cNvSpPr/>
          <p:nvPr/>
        </p:nvSpPr>
        <p:spPr>
          <a:xfrm>
            <a:off x="4615383" y="4232449"/>
            <a:ext cx="4032498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Использовать платформу, когда рынок еще не успел переоценить событие и есть шанс зайти раньше большинства.</a:t>
            </a:r>
            <a:endParaRPr lang="en-US" sz="750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01B058DE-8EC9-AA65-BD94-258D4BB2CB00}"/>
              </a:ext>
            </a:extLst>
          </p:cNvPr>
          <p:cNvSpPr/>
          <p:nvPr/>
        </p:nvSpPr>
        <p:spPr>
          <a:xfrm>
            <a:off x="7860406" y="4696496"/>
            <a:ext cx="1283594" cy="447004"/>
          </a:xfrm>
          <a:prstGeom prst="rect">
            <a:avLst/>
          </a:prstGeom>
          <a:solidFill>
            <a:srgbClr val="2323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6255"/>
            <a:ext cx="3012504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Решение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977578"/>
            <a:ext cx="8151763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Wellex — платформа prediction markets с полным циклом торговли событиями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2015505"/>
            <a:ext cx="4416326" cy="19873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29443" y="2061021"/>
            <a:ext cx="772840" cy="119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MVP готов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729443" y="2214421"/>
            <a:ext cx="772840" cy="265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50"/>
              </a:lnSpc>
              <a:buNone/>
            </a:pPr>
            <a:r>
              <a:rPr lang="en-US" sz="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Торговый движок, логика ордеров, LMSR</a:t>
            </a:r>
            <a:endParaRPr lang="en-US" sz="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32395" y="2639456"/>
            <a:ext cx="171182" cy="1711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06108" y="3535971"/>
            <a:ext cx="777086" cy="238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Публичный запуск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2706108" y="3808801"/>
            <a:ext cx="777086" cy="17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50"/>
              </a:lnSpc>
              <a:buNone/>
            </a:pPr>
            <a:r>
              <a:rPr lang="en-US" sz="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Релиз, реферальная система, аналитика</a:t>
            </a:r>
            <a:endParaRPr lang="en-US" sz="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09061" y="3263673"/>
            <a:ext cx="171182" cy="17118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653049" y="2090347"/>
            <a:ext cx="772839" cy="119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Рост</a:t>
            </a:r>
            <a:endParaRPr lang="en-US" sz="750" dirty="0"/>
          </a:p>
        </p:txBody>
      </p:sp>
      <p:sp>
        <p:nvSpPr>
          <p:cNvPr id="12" name="Text 7"/>
          <p:cNvSpPr/>
          <p:nvPr/>
        </p:nvSpPr>
        <p:spPr>
          <a:xfrm>
            <a:off x="3653049" y="2243747"/>
            <a:ext cx="772839" cy="17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50"/>
              </a:lnSpc>
              <a:buNone/>
            </a:pPr>
            <a:r>
              <a:rPr lang="en-US" sz="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Социальные фичи, хабы, конкурсы</a:t>
            </a:r>
            <a:endParaRPr lang="en-US" sz="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68741" y="2622471"/>
            <a:ext cx="171182" cy="17118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990555" y="1373460"/>
            <a:ext cx="2660898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Ключевые возможности платформы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5990555" y="1676921"/>
            <a:ext cx="2662014" cy="916781"/>
          </a:xfrm>
          <a:prstGeom prst="roundRect">
            <a:avLst>
              <a:gd name="adj" fmla="val 7481"/>
            </a:avLst>
          </a:prstGeom>
          <a:solidFill>
            <a:srgbClr val="242429"/>
          </a:solidFill>
          <a:ln w="14288">
            <a:solidFill>
              <a:srgbClr val="5C5C61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5976268" y="1676921"/>
            <a:ext cx="57150" cy="916781"/>
          </a:xfrm>
          <a:prstGeom prst="roundRect">
            <a:avLst>
              <a:gd name="adj" fmla="val 31628"/>
            </a:avLst>
          </a:prstGeom>
          <a:solidFill>
            <a:srgbClr val="FDC4C4"/>
          </a:solidFill>
          <a:ln/>
        </p:spPr>
      </p:sp>
      <p:sp>
        <p:nvSpPr>
          <p:cNvPr id="17" name="Text 11"/>
          <p:cNvSpPr/>
          <p:nvPr/>
        </p:nvSpPr>
        <p:spPr>
          <a:xfrm>
            <a:off x="6168182" y="1811685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Создание рынков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6168182" y="2102346"/>
            <a:ext cx="2349624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Пользователи создают собственные рынки событий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990555" y="2696096"/>
            <a:ext cx="2662014" cy="916781"/>
          </a:xfrm>
          <a:prstGeom prst="roundRect">
            <a:avLst>
              <a:gd name="adj" fmla="val 7481"/>
            </a:avLst>
          </a:prstGeom>
          <a:solidFill>
            <a:srgbClr val="242429"/>
          </a:solidFill>
          <a:ln w="14288">
            <a:solidFill>
              <a:srgbClr val="5C5C61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976268" y="2696096"/>
            <a:ext cx="57150" cy="916781"/>
          </a:xfrm>
          <a:prstGeom prst="roundRect">
            <a:avLst>
              <a:gd name="adj" fmla="val 31628"/>
            </a:avLst>
          </a:prstGeom>
          <a:solidFill>
            <a:srgbClr val="FDC4C4"/>
          </a:solidFill>
          <a:ln/>
        </p:spPr>
      </p:sp>
      <p:sp>
        <p:nvSpPr>
          <p:cNvPr id="21" name="Text 15"/>
          <p:cNvSpPr/>
          <p:nvPr/>
        </p:nvSpPr>
        <p:spPr>
          <a:xfrm>
            <a:off x="6168182" y="2830860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YES/NO торговля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6168182" y="3121521"/>
            <a:ext cx="2349624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AMM + лимитные ордера + market resolution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5990555" y="3715271"/>
            <a:ext cx="2662014" cy="916781"/>
          </a:xfrm>
          <a:prstGeom prst="roundRect">
            <a:avLst>
              <a:gd name="adj" fmla="val 7481"/>
            </a:avLst>
          </a:prstGeom>
          <a:solidFill>
            <a:srgbClr val="242429"/>
          </a:solidFill>
          <a:ln w="14288">
            <a:solidFill>
              <a:srgbClr val="5C5C61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976268" y="3715271"/>
            <a:ext cx="57150" cy="916781"/>
          </a:xfrm>
          <a:prstGeom prst="roundRect">
            <a:avLst>
              <a:gd name="adj" fmla="val 31628"/>
            </a:avLst>
          </a:prstGeom>
          <a:solidFill>
            <a:srgbClr val="FDC4C4"/>
          </a:solidFill>
          <a:ln/>
        </p:spPr>
      </p:sp>
      <p:sp>
        <p:nvSpPr>
          <p:cNvPr id="25" name="Text 19"/>
          <p:cNvSpPr/>
          <p:nvPr/>
        </p:nvSpPr>
        <p:spPr>
          <a:xfrm>
            <a:off x="6168182" y="3850035"/>
            <a:ext cx="1653108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Комиссионная модель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168182" y="4140696"/>
            <a:ext cx="2349624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Прозрачная монетизация через торговые сборы</a:t>
            </a:r>
            <a:endParaRPr lang="en-US" sz="900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0E63CD6-E677-19AA-E337-F4B5D6BE5514}"/>
              </a:ext>
            </a:extLst>
          </p:cNvPr>
          <p:cNvSpPr/>
          <p:nvPr/>
        </p:nvSpPr>
        <p:spPr>
          <a:xfrm>
            <a:off x="7860406" y="4696496"/>
            <a:ext cx="1283594" cy="447004"/>
          </a:xfrm>
          <a:prstGeom prst="rect">
            <a:avLst/>
          </a:prstGeom>
          <a:solidFill>
            <a:srgbClr val="2323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91803"/>
            <a:ext cx="3488754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Market Size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8379" y="1272332"/>
            <a:ext cx="2607915" cy="460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$10B+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20130" y="1905521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TAM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88379" y="2205930"/>
            <a:ext cx="2607915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Prediction &amp; Betting Market — prediction markets + adjacent betting/trading сегменты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67968" y="1272332"/>
            <a:ext cx="2607990" cy="460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$300M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99793" y="1905521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67968" y="2205930"/>
            <a:ext cx="2607990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СНГ + crypto-native аудитория — доля пользователей из betting/crypto/community сегмента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47631" y="1272332"/>
            <a:ext cx="2607915" cy="460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$3M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79381" y="1905521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SOM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47631" y="2205930"/>
            <a:ext cx="2607915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Первые 3 года — GMV при достижении 20k–50k активных пользователей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8379" y="3076352"/>
            <a:ext cx="1814438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Почему рынок растёт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88379" y="3657377"/>
            <a:ext cx="8167241" cy="19050"/>
          </a:xfrm>
          <a:prstGeom prst="roundRect">
            <a:avLst>
              <a:gd name="adj" fmla="val 109884"/>
            </a:avLst>
          </a:prstGeom>
          <a:solidFill>
            <a:srgbClr val="5C5C61"/>
          </a:solidFill>
          <a:ln/>
        </p:spPr>
      </p:sp>
      <p:sp>
        <p:nvSpPr>
          <p:cNvPr id="14" name="Shape 12"/>
          <p:cNvSpPr/>
          <p:nvPr/>
        </p:nvSpPr>
        <p:spPr>
          <a:xfrm>
            <a:off x="1226790" y="3657340"/>
            <a:ext cx="19050" cy="418654"/>
          </a:xfrm>
          <a:prstGeom prst="roundRect">
            <a:avLst>
              <a:gd name="adj" fmla="val 109884"/>
            </a:avLst>
          </a:prstGeom>
          <a:solidFill>
            <a:srgbClr val="5C5C61"/>
          </a:solidFill>
          <a:ln/>
        </p:spPr>
      </p:sp>
      <p:sp>
        <p:nvSpPr>
          <p:cNvPr id="15" name="Shape 13"/>
          <p:cNvSpPr/>
          <p:nvPr/>
        </p:nvSpPr>
        <p:spPr>
          <a:xfrm>
            <a:off x="1079376" y="3500400"/>
            <a:ext cx="313953" cy="313953"/>
          </a:xfrm>
          <a:prstGeom prst="roundRect">
            <a:avLst>
              <a:gd name="adj" fmla="val 6668"/>
            </a:avLst>
          </a:prstGeom>
          <a:solidFill>
            <a:srgbClr val="434348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1652" y="3552639"/>
            <a:ext cx="209327" cy="209327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27906" y="4215631"/>
            <a:ext cx="121704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Рост Web3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2894558" y="3657340"/>
            <a:ext cx="19050" cy="418654"/>
          </a:xfrm>
          <a:prstGeom prst="roundRect">
            <a:avLst>
              <a:gd name="adj" fmla="val 109884"/>
            </a:avLst>
          </a:prstGeom>
          <a:solidFill>
            <a:srgbClr val="5C5C61"/>
          </a:solidFill>
          <a:ln/>
        </p:spPr>
      </p:sp>
      <p:sp>
        <p:nvSpPr>
          <p:cNvPr id="19" name="Shape 16"/>
          <p:cNvSpPr/>
          <p:nvPr/>
        </p:nvSpPr>
        <p:spPr>
          <a:xfrm>
            <a:off x="2747144" y="3500400"/>
            <a:ext cx="313953" cy="313953"/>
          </a:xfrm>
          <a:prstGeom prst="roundRect">
            <a:avLst>
              <a:gd name="adj" fmla="val 6668"/>
            </a:avLst>
          </a:prstGeom>
          <a:solidFill>
            <a:srgbClr val="434348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9420" y="3552639"/>
            <a:ext cx="209327" cy="20932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295674" y="4215631"/>
            <a:ext cx="121704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Retail trading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4562326" y="3657340"/>
            <a:ext cx="19050" cy="418654"/>
          </a:xfrm>
          <a:prstGeom prst="roundRect">
            <a:avLst>
              <a:gd name="adj" fmla="val 109884"/>
            </a:avLst>
          </a:prstGeom>
          <a:solidFill>
            <a:srgbClr val="5C5C61"/>
          </a:solidFill>
          <a:ln/>
        </p:spPr>
      </p:sp>
      <p:sp>
        <p:nvSpPr>
          <p:cNvPr id="23" name="Shape 19"/>
          <p:cNvSpPr/>
          <p:nvPr/>
        </p:nvSpPr>
        <p:spPr>
          <a:xfrm>
            <a:off x="4414912" y="3500400"/>
            <a:ext cx="313953" cy="313953"/>
          </a:xfrm>
          <a:prstGeom prst="roundRect">
            <a:avLst>
              <a:gd name="adj" fmla="val 6668"/>
            </a:avLst>
          </a:prstGeom>
          <a:solidFill>
            <a:srgbClr val="434348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67188" y="3552639"/>
            <a:ext cx="209327" cy="209327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963442" y="4215631"/>
            <a:ext cx="1217042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Creator economy</a:t>
            </a:r>
            <a:endParaRPr lang="en-US" sz="1350" dirty="0"/>
          </a:p>
        </p:txBody>
      </p:sp>
      <p:sp>
        <p:nvSpPr>
          <p:cNvPr id="26" name="Shape 21"/>
          <p:cNvSpPr/>
          <p:nvPr/>
        </p:nvSpPr>
        <p:spPr>
          <a:xfrm>
            <a:off x="6230094" y="3657340"/>
            <a:ext cx="19050" cy="418654"/>
          </a:xfrm>
          <a:prstGeom prst="roundRect">
            <a:avLst>
              <a:gd name="adj" fmla="val 109884"/>
            </a:avLst>
          </a:prstGeom>
          <a:solidFill>
            <a:srgbClr val="5C5C61"/>
          </a:solidFill>
          <a:ln/>
        </p:spPr>
      </p:sp>
      <p:sp>
        <p:nvSpPr>
          <p:cNvPr id="27" name="Shape 22"/>
          <p:cNvSpPr/>
          <p:nvPr/>
        </p:nvSpPr>
        <p:spPr>
          <a:xfrm>
            <a:off x="6082680" y="3500400"/>
            <a:ext cx="313953" cy="313953"/>
          </a:xfrm>
          <a:prstGeom prst="roundRect">
            <a:avLst>
              <a:gd name="adj" fmla="val 6668"/>
            </a:avLst>
          </a:prstGeom>
          <a:solidFill>
            <a:srgbClr val="434348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34956" y="3552639"/>
            <a:ext cx="209327" cy="209327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631210" y="4215631"/>
            <a:ext cx="1217042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Distrust к медиа</a:t>
            </a:r>
            <a:endParaRPr lang="en-US" sz="1350" dirty="0"/>
          </a:p>
        </p:txBody>
      </p:sp>
      <p:sp>
        <p:nvSpPr>
          <p:cNvPr id="30" name="Shape 24"/>
          <p:cNvSpPr/>
          <p:nvPr/>
        </p:nvSpPr>
        <p:spPr>
          <a:xfrm>
            <a:off x="7897862" y="3657340"/>
            <a:ext cx="19050" cy="418654"/>
          </a:xfrm>
          <a:prstGeom prst="roundRect">
            <a:avLst>
              <a:gd name="adj" fmla="val 109884"/>
            </a:avLst>
          </a:prstGeom>
          <a:solidFill>
            <a:srgbClr val="5C5C61"/>
          </a:solidFill>
          <a:ln/>
        </p:spPr>
      </p:sp>
      <p:sp>
        <p:nvSpPr>
          <p:cNvPr id="31" name="Shape 25"/>
          <p:cNvSpPr/>
          <p:nvPr/>
        </p:nvSpPr>
        <p:spPr>
          <a:xfrm>
            <a:off x="7750448" y="3500400"/>
            <a:ext cx="313953" cy="313953"/>
          </a:xfrm>
          <a:prstGeom prst="roundRect">
            <a:avLst>
              <a:gd name="adj" fmla="val 6668"/>
            </a:avLst>
          </a:prstGeom>
          <a:solidFill>
            <a:srgbClr val="434348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02724" y="3552639"/>
            <a:ext cx="209327" cy="209327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298978" y="4215631"/>
            <a:ext cx="1217042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Альтернативные прогнозы</a:t>
            </a:r>
            <a:endParaRPr lang="en-US" sz="13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6017A5EC-9FBE-EF90-BDFE-00C26AAC53DC}"/>
              </a:ext>
            </a:extLst>
          </p:cNvPr>
          <p:cNvSpPr/>
          <p:nvPr/>
        </p:nvSpPr>
        <p:spPr>
          <a:xfrm>
            <a:off x="7860406" y="4696496"/>
            <a:ext cx="1283594" cy="447004"/>
          </a:xfrm>
          <a:prstGeom prst="rect">
            <a:avLst/>
          </a:prstGeom>
          <a:solidFill>
            <a:srgbClr val="2323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45319"/>
            <a:ext cx="3366939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Конкуренты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496119" y="1402035"/>
            <a:ext cx="3911575" cy="2734047"/>
          </a:xfrm>
          <a:prstGeom prst="roundRect">
            <a:avLst>
              <a:gd name="adj" fmla="val 739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5645" y="1488281"/>
            <a:ext cx="898996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Платформа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808634" y="1488281"/>
            <a:ext cx="1091654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Фокус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174281" y="1488281"/>
            <a:ext cx="1094036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Ограничения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35645" y="1866081"/>
            <a:ext cx="898996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Polymarket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808634" y="1866081"/>
            <a:ext cx="1091654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prediction markets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74281" y="1866081"/>
            <a:ext cx="1094036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Ограничения по регионам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5645" y="2453953"/>
            <a:ext cx="898996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Manifold Markets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08634" y="2453953"/>
            <a:ext cx="1091654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forecasting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174281" y="2453953"/>
            <a:ext cx="1094036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Нет фокуса на СНГ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5645" y="3041824"/>
            <a:ext cx="898996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Букмекеры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808634" y="3041824"/>
            <a:ext cx="1091654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Ставки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174281" y="3041824"/>
            <a:ext cx="1094036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Нет свободного market creation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5645" y="3629695"/>
            <a:ext cx="898996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Crypto betting dApps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808634" y="3629695"/>
            <a:ext cx="1091654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Web3 betting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174281" y="3629695"/>
            <a:ext cx="1094036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Сложный UX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44033" y="1258119"/>
            <a:ext cx="4105647" cy="3239988"/>
          </a:xfrm>
          <a:prstGeom prst="roundRect">
            <a:avLst>
              <a:gd name="adj" fmla="val 624"/>
            </a:avLst>
          </a:prstGeom>
          <a:solidFill>
            <a:srgbClr val="FDC4C4"/>
          </a:solidFill>
          <a:ln/>
        </p:spPr>
      </p:sp>
      <p:sp>
        <p:nvSpPr>
          <p:cNvPr id="20" name="Text 18"/>
          <p:cNvSpPr/>
          <p:nvPr/>
        </p:nvSpPr>
        <p:spPr>
          <a:xfrm>
            <a:off x="4778648" y="1386036"/>
            <a:ext cx="2211512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Позиционирование Wellex</a:t>
            </a:r>
            <a:endParaRPr lang="en-US" sz="13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9175" y="1744414"/>
            <a:ext cx="201960" cy="2019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216277" y="1740322"/>
            <a:ext cx="1400621" cy="631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Локально адаптированный продукт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216277" y="2499345"/>
            <a:ext cx="1400621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Ориентирован на СНГ-аудиторию</a:t>
            </a:r>
            <a:endParaRPr lang="en-US" sz="105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7341" y="1744414"/>
            <a:ext cx="201960" cy="20196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214443" y="1740322"/>
            <a:ext cx="1400621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Low-friction UX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7214443" y="2078608"/>
            <a:ext cx="1400621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Простой и понятный интерфейс</a:t>
            </a:r>
            <a:endParaRPr lang="en-US" sz="105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9175" y="3179415"/>
            <a:ext cx="201960" cy="2019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216277" y="3175322"/>
            <a:ext cx="1400621" cy="420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Social/community mechanics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5216277" y="3723977"/>
            <a:ext cx="1400621" cy="630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Вирусные механики и community-driven рынки</a:t>
            </a:r>
            <a:endParaRPr lang="en-US" sz="105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7341" y="3179415"/>
            <a:ext cx="201960" cy="2019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214443" y="3175322"/>
            <a:ext cx="1400621" cy="420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Рынок прогнозов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7214443" y="3723977"/>
            <a:ext cx="1400621" cy="630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классический беттинг, а торговля вероятностями</a:t>
            </a:r>
            <a:endParaRPr lang="en-US" sz="1050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6D1479AE-2272-9F3F-F41A-E58902B0CAB4}"/>
              </a:ext>
            </a:extLst>
          </p:cNvPr>
          <p:cNvSpPr/>
          <p:nvPr/>
        </p:nvSpPr>
        <p:spPr>
          <a:xfrm>
            <a:off x="7860406" y="4696496"/>
            <a:ext cx="1283594" cy="447004"/>
          </a:xfrm>
          <a:prstGeom prst="rect">
            <a:avLst/>
          </a:prstGeom>
          <a:solidFill>
            <a:srgbClr val="2323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97012"/>
            <a:ext cx="28353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Монетизация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678112"/>
            <a:ext cx="1890117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Основной источник дохода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957313"/>
            <a:ext cx="3937546" cy="583927"/>
          </a:xfrm>
          <a:prstGeom prst="roundRect">
            <a:avLst>
              <a:gd name="adj" fmla="val 2913"/>
            </a:avLst>
          </a:prstGeom>
          <a:solidFill>
            <a:srgbClr val="183A1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26" y="2118866"/>
            <a:ext cx="141759" cy="1134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4691" y="2076376"/>
            <a:ext cx="3455566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Торговая комиссия: </a:t>
            </a: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0.5% buyer fee</a:t>
            </a: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</a:t>
            </a: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0.5% seller fee</a:t>
            </a: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 каждой сделки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96119" y="2643262"/>
            <a:ext cx="1971824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Дополнительные источники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96119" y="2911153"/>
            <a:ext cx="3937546" cy="74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Promoted markets — продвижение рынков</a:t>
            </a:r>
            <a:endParaRPr lang="en-US" sz="8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analytics — расширенная аналитика</a:t>
            </a:r>
            <a:endParaRPr lang="en-US" sz="8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access — доступ для разработчиков</a:t>
            </a:r>
            <a:endParaRPr lang="en-US" sz="8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prediction data — данные для бизнеса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715098" y="1678112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Unit Logic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15098" y="1946002"/>
            <a:ext cx="3937546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Exchange-style commission model: чем выше активность — тем выше revenue платформы.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715098" y="2374553"/>
            <a:ext cx="1923380" cy="821234"/>
          </a:xfrm>
          <a:prstGeom prst="roundRect">
            <a:avLst>
              <a:gd name="adj" fmla="val 2072"/>
            </a:avLst>
          </a:prstGeom>
          <a:solidFill>
            <a:srgbClr val="434348"/>
          </a:solidFill>
          <a:ln/>
        </p:spPr>
      </p:sp>
      <p:sp>
        <p:nvSpPr>
          <p:cNvPr id="12" name="Text 9"/>
          <p:cNvSpPr/>
          <p:nvPr/>
        </p:nvSpPr>
        <p:spPr>
          <a:xfrm>
            <a:off x="4828505" y="2487960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👥</a:t>
            </a:r>
            <a:r>
              <a:rPr lang="en-US" sz="11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Пользователи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28505" y="2755850"/>
            <a:ext cx="1696566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Больше участников = больше рынков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729189" y="2374553"/>
            <a:ext cx="1923455" cy="821234"/>
          </a:xfrm>
          <a:prstGeom prst="roundRect">
            <a:avLst>
              <a:gd name="adj" fmla="val 2072"/>
            </a:avLst>
          </a:prstGeom>
          <a:solidFill>
            <a:srgbClr val="434348"/>
          </a:solidFill>
          <a:ln/>
        </p:spPr>
      </p:sp>
      <p:sp>
        <p:nvSpPr>
          <p:cNvPr id="15" name="Text 12"/>
          <p:cNvSpPr/>
          <p:nvPr/>
        </p:nvSpPr>
        <p:spPr>
          <a:xfrm>
            <a:off x="6842596" y="2487960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📈</a:t>
            </a:r>
            <a:r>
              <a:rPr lang="en-US" sz="11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Объём торгов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42596" y="2755850"/>
            <a:ext cx="1696641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Выше volume = выше комиссионный доход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715098" y="3286497"/>
            <a:ext cx="3937546" cy="657969"/>
          </a:xfrm>
          <a:prstGeom prst="roundRect">
            <a:avLst>
              <a:gd name="adj" fmla="val 2586"/>
            </a:avLst>
          </a:prstGeom>
          <a:solidFill>
            <a:srgbClr val="434348"/>
          </a:solidFill>
          <a:ln/>
        </p:spPr>
      </p:sp>
      <p:sp>
        <p:nvSpPr>
          <p:cNvPr id="18" name="Text 15"/>
          <p:cNvSpPr/>
          <p:nvPr/>
        </p:nvSpPr>
        <p:spPr>
          <a:xfrm>
            <a:off x="4828505" y="3399904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🔥</a:t>
            </a:r>
            <a:r>
              <a:rPr lang="en-US" sz="11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Активность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28505" y="3667795"/>
            <a:ext cx="3710732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Больше маркетов = больше транзакций</a:t>
            </a:r>
            <a:endParaRPr lang="en-US" sz="850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02E1795-C025-A691-1620-BBF9ECE0E9D2}"/>
              </a:ext>
            </a:extLst>
          </p:cNvPr>
          <p:cNvSpPr/>
          <p:nvPr/>
        </p:nvSpPr>
        <p:spPr>
          <a:xfrm>
            <a:off x="7860406" y="4696496"/>
            <a:ext cx="1283594" cy="447004"/>
          </a:xfrm>
          <a:prstGeom prst="rect">
            <a:avLst/>
          </a:prstGeom>
          <a:solidFill>
            <a:srgbClr val="2323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981"/>
            <a:ext cx="3189759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Каналы роста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093068"/>
            <a:ext cx="3528194" cy="3528194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093068"/>
            <a:ext cx="3528194" cy="352819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32362" y="1174626"/>
            <a:ext cx="1615901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Эксперименты роста</a:t>
            </a:r>
            <a:endParaRPr lang="en-US" sz="1250" dirty="0"/>
          </a:p>
        </p:txBody>
      </p:sp>
      <p:sp>
        <p:nvSpPr>
          <p:cNvPr id="6" name="Shape 2"/>
          <p:cNvSpPr/>
          <p:nvPr/>
        </p:nvSpPr>
        <p:spPr>
          <a:xfrm>
            <a:off x="4732362" y="1694408"/>
            <a:ext cx="1902693" cy="1362001"/>
          </a:xfrm>
          <a:prstGeom prst="roundRect">
            <a:avLst>
              <a:gd name="adj" fmla="val 5035"/>
            </a:avLst>
          </a:prstGeom>
          <a:solidFill>
            <a:srgbClr val="242429"/>
          </a:solidFill>
          <a:ln w="14288">
            <a:solidFill>
              <a:srgbClr val="5C5C61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732362" y="1680121"/>
            <a:ext cx="1902693" cy="57150"/>
          </a:xfrm>
          <a:prstGeom prst="roundRect">
            <a:avLst>
              <a:gd name="adj" fmla="val 33488"/>
            </a:avLst>
          </a:prstGeom>
          <a:solidFill>
            <a:srgbClr val="FDC4C4"/>
          </a:solidFill>
          <a:ln/>
        </p:spPr>
      </p:sp>
      <p:sp>
        <p:nvSpPr>
          <p:cNvPr id="8" name="Shape 4"/>
          <p:cNvSpPr/>
          <p:nvPr/>
        </p:nvSpPr>
        <p:spPr>
          <a:xfrm>
            <a:off x="5492316" y="1503090"/>
            <a:ext cx="382712" cy="382712"/>
          </a:xfrm>
          <a:prstGeom prst="roundRect">
            <a:avLst>
              <a:gd name="adj" fmla="val 149329"/>
            </a:avLst>
          </a:prstGeom>
          <a:solidFill>
            <a:srgbClr val="FDC4C4"/>
          </a:solidFill>
          <a:ln/>
        </p:spPr>
      </p:sp>
      <p:sp>
        <p:nvSpPr>
          <p:cNvPr id="9" name="Text 5"/>
          <p:cNvSpPr/>
          <p:nvPr/>
        </p:nvSpPr>
        <p:spPr>
          <a:xfrm>
            <a:off x="5607137" y="1598786"/>
            <a:ext cx="153070" cy="191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874196" y="2013347"/>
            <a:ext cx="1619027" cy="39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Реферальная система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874196" y="2526729"/>
            <a:ext cx="1619027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Вирусное привлечение через вознаграждения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749876" y="1694408"/>
            <a:ext cx="1902768" cy="1362001"/>
          </a:xfrm>
          <a:prstGeom prst="roundRect">
            <a:avLst>
              <a:gd name="adj" fmla="val 5035"/>
            </a:avLst>
          </a:prstGeom>
          <a:solidFill>
            <a:srgbClr val="242429"/>
          </a:solidFill>
          <a:ln w="14288">
            <a:solidFill>
              <a:srgbClr val="5C5C6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749876" y="1680121"/>
            <a:ext cx="1902768" cy="57150"/>
          </a:xfrm>
          <a:prstGeom prst="roundRect">
            <a:avLst>
              <a:gd name="adj" fmla="val 33488"/>
            </a:avLst>
          </a:prstGeom>
          <a:solidFill>
            <a:srgbClr val="FDC4C4"/>
          </a:solidFill>
          <a:ln/>
        </p:spPr>
      </p:sp>
      <p:sp>
        <p:nvSpPr>
          <p:cNvPr id="14" name="Shape 10"/>
          <p:cNvSpPr/>
          <p:nvPr/>
        </p:nvSpPr>
        <p:spPr>
          <a:xfrm>
            <a:off x="7509904" y="1503090"/>
            <a:ext cx="382712" cy="382712"/>
          </a:xfrm>
          <a:prstGeom prst="roundRect">
            <a:avLst>
              <a:gd name="adj" fmla="val 149329"/>
            </a:avLst>
          </a:prstGeom>
          <a:solidFill>
            <a:srgbClr val="FDC4C4"/>
          </a:solidFill>
          <a:ln/>
        </p:spPr>
      </p:sp>
      <p:sp>
        <p:nvSpPr>
          <p:cNvPr id="15" name="Text 11"/>
          <p:cNvSpPr/>
          <p:nvPr/>
        </p:nvSpPr>
        <p:spPr>
          <a:xfrm>
            <a:off x="7624725" y="1598786"/>
            <a:ext cx="153070" cy="191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891710" y="2013347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Leaderboard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891710" y="2327449"/>
            <a:ext cx="1619101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Соревновательная механика для удержания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732362" y="3362548"/>
            <a:ext cx="1902693" cy="1162720"/>
          </a:xfrm>
          <a:prstGeom prst="roundRect">
            <a:avLst>
              <a:gd name="adj" fmla="val 5898"/>
            </a:avLst>
          </a:prstGeom>
          <a:solidFill>
            <a:srgbClr val="242429"/>
          </a:solidFill>
          <a:ln w="14288">
            <a:solidFill>
              <a:srgbClr val="5C5C6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732362" y="3348261"/>
            <a:ext cx="1902693" cy="57150"/>
          </a:xfrm>
          <a:prstGeom prst="roundRect">
            <a:avLst>
              <a:gd name="adj" fmla="val 33488"/>
            </a:avLst>
          </a:prstGeom>
          <a:solidFill>
            <a:srgbClr val="FDC4C4"/>
          </a:solidFill>
          <a:ln/>
        </p:spPr>
      </p:sp>
      <p:sp>
        <p:nvSpPr>
          <p:cNvPr id="20" name="Shape 16"/>
          <p:cNvSpPr/>
          <p:nvPr/>
        </p:nvSpPr>
        <p:spPr>
          <a:xfrm>
            <a:off x="5492316" y="3171230"/>
            <a:ext cx="382712" cy="382712"/>
          </a:xfrm>
          <a:prstGeom prst="roundRect">
            <a:avLst>
              <a:gd name="adj" fmla="val 149329"/>
            </a:avLst>
          </a:prstGeom>
          <a:solidFill>
            <a:srgbClr val="FDC4C4"/>
          </a:solidFill>
          <a:ln/>
        </p:spPr>
      </p:sp>
      <p:sp>
        <p:nvSpPr>
          <p:cNvPr id="21" name="Text 17"/>
          <p:cNvSpPr/>
          <p:nvPr/>
        </p:nvSpPr>
        <p:spPr>
          <a:xfrm>
            <a:off x="5607137" y="3266926"/>
            <a:ext cx="153070" cy="191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874196" y="3681487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Market Hubs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4874196" y="3995589"/>
            <a:ext cx="1619027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Тематические хабы по категориям событий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749876" y="3362548"/>
            <a:ext cx="1902768" cy="1162720"/>
          </a:xfrm>
          <a:prstGeom prst="roundRect">
            <a:avLst>
              <a:gd name="adj" fmla="val 5898"/>
            </a:avLst>
          </a:prstGeom>
          <a:solidFill>
            <a:srgbClr val="242429"/>
          </a:solidFill>
          <a:ln w="14288">
            <a:solidFill>
              <a:srgbClr val="5C5C61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749876" y="3348261"/>
            <a:ext cx="1902768" cy="57150"/>
          </a:xfrm>
          <a:prstGeom prst="roundRect">
            <a:avLst>
              <a:gd name="adj" fmla="val 33488"/>
            </a:avLst>
          </a:prstGeom>
          <a:solidFill>
            <a:srgbClr val="FDC4C4"/>
          </a:solidFill>
          <a:ln/>
        </p:spPr>
      </p:sp>
      <p:sp>
        <p:nvSpPr>
          <p:cNvPr id="26" name="Shape 22"/>
          <p:cNvSpPr/>
          <p:nvPr/>
        </p:nvSpPr>
        <p:spPr>
          <a:xfrm>
            <a:off x="7509904" y="3171230"/>
            <a:ext cx="382712" cy="382712"/>
          </a:xfrm>
          <a:prstGeom prst="roundRect">
            <a:avLst>
              <a:gd name="adj" fmla="val 149329"/>
            </a:avLst>
          </a:prstGeom>
          <a:solidFill>
            <a:srgbClr val="FDC4C4"/>
          </a:solidFill>
          <a:ln/>
        </p:spPr>
      </p:sp>
      <p:sp>
        <p:nvSpPr>
          <p:cNvPr id="27" name="Text 23"/>
          <p:cNvSpPr/>
          <p:nvPr/>
        </p:nvSpPr>
        <p:spPr>
          <a:xfrm>
            <a:off x="7624725" y="3266926"/>
            <a:ext cx="153070" cy="191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891710" y="3681487"/>
            <a:ext cx="1612925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Trading Competitions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6891710" y="3995589"/>
            <a:ext cx="1619101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Турниры для вовлечения активных трейдеров</a:t>
            </a:r>
            <a:endParaRPr lang="en-US" sz="1000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61E9053-7F45-A060-0DBE-2E031CC720C9}"/>
              </a:ext>
            </a:extLst>
          </p:cNvPr>
          <p:cNvSpPr/>
          <p:nvPr/>
        </p:nvSpPr>
        <p:spPr>
          <a:xfrm>
            <a:off x="7860406" y="4696496"/>
            <a:ext cx="1283594" cy="447004"/>
          </a:xfrm>
          <a:prstGeom prst="rect">
            <a:avLst/>
          </a:prstGeom>
          <a:solidFill>
            <a:srgbClr val="2323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3029"/>
            <a:ext cx="2803699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Валидация и метрики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1027137"/>
            <a:ext cx="1471389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Что уже подтверждено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5930" y="1316087"/>
            <a:ext cx="159469" cy="1594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549" y="1312813"/>
            <a:ext cx="1617762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Высокий мировой интерес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41549" y="1692771"/>
            <a:ext cx="1617762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Рост prediction markets подтверждён глобальными данными</a:t>
            </a:r>
            <a:endParaRPr lang="en-US" sz="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8762" y="1316087"/>
            <a:ext cx="159469" cy="1594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904381" y="1312813"/>
            <a:ext cx="1617762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Рабочая монетизационная модель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904381" y="1858863"/>
            <a:ext cx="1617762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Exchange-style комиссии проверены на рынке</a:t>
            </a:r>
            <a:endParaRPr lang="en-US" sz="8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1595" y="1316087"/>
            <a:ext cx="159469" cy="15946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7213" y="1312813"/>
            <a:ext cx="1617762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Техническая реализуемость MVP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4967213" y="1692771"/>
            <a:ext cx="1617762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Архитектура и backend уже построены</a:t>
            </a:r>
            <a:endParaRPr lang="en-US" sz="8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4427" y="1316087"/>
            <a:ext cx="159469" cy="15946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030045" y="1312813"/>
            <a:ext cx="1617836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Понятная аудитория acquisition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7030045" y="1692771"/>
            <a:ext cx="1617836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Чёткие каналы привлечения пользователей</a:t>
            </a:r>
            <a:endParaRPr lang="en-US" sz="800" dirty="0"/>
          </a:p>
        </p:txBody>
      </p:sp>
      <p:sp>
        <p:nvSpPr>
          <p:cNvPr id="16" name="Text 10"/>
          <p:cNvSpPr/>
          <p:nvPr/>
        </p:nvSpPr>
        <p:spPr>
          <a:xfrm>
            <a:off x="496119" y="2276103"/>
            <a:ext cx="269587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Что планируем проверить за 3–6 месяцев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999381" y="2614910"/>
            <a:ext cx="3019499" cy="35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2K+</a:t>
            </a:r>
            <a:endParaRPr lang="en-US" sz="2750" dirty="0"/>
          </a:p>
        </p:txBody>
      </p:sp>
      <p:sp>
        <p:nvSpPr>
          <p:cNvPr id="18" name="Text 12"/>
          <p:cNvSpPr/>
          <p:nvPr/>
        </p:nvSpPr>
        <p:spPr>
          <a:xfrm>
            <a:off x="1844576" y="3078659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Регистрации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496119" y="3292525"/>
            <a:ext cx="402602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Целевое количество новых пользователей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5125045" y="2614910"/>
            <a:ext cx="3019574" cy="35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500</a:t>
            </a:r>
            <a:endParaRPr lang="en-US" sz="2750" dirty="0"/>
          </a:p>
        </p:txBody>
      </p:sp>
      <p:sp>
        <p:nvSpPr>
          <p:cNvPr id="21" name="Text 15"/>
          <p:cNvSpPr/>
          <p:nvPr/>
        </p:nvSpPr>
        <p:spPr>
          <a:xfrm>
            <a:off x="5970315" y="3078659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MAU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621783" y="3292525"/>
            <a:ext cx="402609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Ежемесячно активных пользователей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999381" y="3653954"/>
            <a:ext cx="3019499" cy="35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$50K+</a:t>
            </a:r>
            <a:endParaRPr lang="en-US" sz="2750" dirty="0"/>
          </a:p>
        </p:txBody>
      </p:sp>
      <p:sp>
        <p:nvSpPr>
          <p:cNvPr id="24" name="Text 18"/>
          <p:cNvSpPr/>
          <p:nvPr/>
        </p:nvSpPr>
        <p:spPr>
          <a:xfrm>
            <a:off x="1844576" y="4117702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Trading Volume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6119" y="4331568"/>
            <a:ext cx="402602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Накопленный объём торгов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5125045" y="3653954"/>
            <a:ext cx="3019574" cy="35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30%</a:t>
            </a:r>
            <a:endParaRPr lang="en-US" sz="2750" dirty="0"/>
          </a:p>
        </p:txBody>
      </p:sp>
      <p:sp>
        <p:nvSpPr>
          <p:cNvPr id="27" name="Text 21"/>
          <p:cNvSpPr/>
          <p:nvPr/>
        </p:nvSpPr>
        <p:spPr>
          <a:xfrm>
            <a:off x="5970315" y="4117702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D30 Retention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621783" y="4331568"/>
            <a:ext cx="402609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Удержание пользователей на 30-й день</a:t>
            </a:r>
            <a:endParaRPr lang="en-US" sz="800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8769FCE-7B33-A726-F293-A3FDE36115FE}"/>
              </a:ext>
            </a:extLst>
          </p:cNvPr>
          <p:cNvSpPr/>
          <p:nvPr/>
        </p:nvSpPr>
        <p:spPr>
          <a:xfrm>
            <a:off x="7860406" y="4696496"/>
            <a:ext cx="1283594" cy="447004"/>
          </a:xfrm>
          <a:prstGeom prst="rect">
            <a:avLst/>
          </a:prstGeom>
          <a:solidFill>
            <a:srgbClr val="2323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69665"/>
            <a:ext cx="2734568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План на 12–24 месяца</a:t>
            </a:r>
            <a:endParaRPr lang="en-US" sz="2050" dirty="0"/>
          </a:p>
        </p:txBody>
      </p:sp>
      <p:sp>
        <p:nvSpPr>
          <p:cNvPr id="3" name="Shape 1"/>
          <p:cNvSpPr/>
          <p:nvPr/>
        </p:nvSpPr>
        <p:spPr>
          <a:xfrm>
            <a:off x="496119" y="1261393"/>
            <a:ext cx="8151763" cy="1556742"/>
          </a:xfrm>
          <a:prstGeom prst="roundRect">
            <a:avLst>
              <a:gd name="adj" fmla="val 1025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7219" y="1318692"/>
            <a:ext cx="304197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Метрика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866480" y="1318692"/>
            <a:ext cx="222535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мес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309122" y="1318692"/>
            <a:ext cx="222773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мес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07219" y="1577355"/>
            <a:ext cx="304197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Registered users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866480" y="1577355"/>
            <a:ext cx="222535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10 000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309122" y="1577355"/>
            <a:ext cx="222773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50 000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7219" y="1836018"/>
            <a:ext cx="304197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MAU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66480" y="1836018"/>
            <a:ext cx="222535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2 000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309122" y="1836018"/>
            <a:ext cx="222773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10 000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07219" y="2094681"/>
            <a:ext cx="304197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trading volume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66480" y="2094681"/>
            <a:ext cx="222535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$100k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09122" y="2094681"/>
            <a:ext cx="222773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7219" y="2353345"/>
            <a:ext cx="304197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fee revenue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866480" y="2353345"/>
            <a:ext cx="222535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$1k/мес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309122" y="2353345"/>
            <a:ext cx="222773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$10k/мес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7219" y="2612008"/>
            <a:ext cx="304197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866480" y="2612008"/>
            <a:ext cx="222535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&lt;$10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309122" y="2612008"/>
            <a:ext cx="222773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&lt;$15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6119" y="2937718"/>
            <a:ext cx="1442442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Ключевые допущения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6119" y="3223394"/>
            <a:ext cx="8151763" cy="1150441"/>
          </a:xfrm>
          <a:prstGeom prst="roundRect">
            <a:avLst>
              <a:gd name="adj" fmla="val 1386"/>
            </a:avLst>
          </a:prstGeom>
          <a:solidFill>
            <a:srgbClr val="434348"/>
          </a:solidFill>
          <a:ln/>
        </p:spPr>
      </p:sp>
      <p:sp>
        <p:nvSpPr>
          <p:cNvPr id="24" name="Shape 22"/>
          <p:cNvSpPr/>
          <p:nvPr/>
        </p:nvSpPr>
        <p:spPr>
          <a:xfrm>
            <a:off x="496119" y="3223394"/>
            <a:ext cx="4075881" cy="575221"/>
          </a:xfrm>
          <a:prstGeom prst="roundRect">
            <a:avLst>
              <a:gd name="adj" fmla="val 2773"/>
            </a:avLst>
          </a:prstGeom>
          <a:solidFill>
            <a:srgbClr val="434348"/>
          </a:solidFill>
          <a:ln/>
        </p:spPr>
      </p:sp>
      <p:sp>
        <p:nvSpPr>
          <p:cNvPr id="25" name="Text 23"/>
          <p:cNvSpPr/>
          <p:nvPr/>
        </p:nvSpPr>
        <p:spPr>
          <a:xfrm>
            <a:off x="602382" y="3329657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Organic Growth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2382" y="3543523"/>
            <a:ext cx="386335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Рост через community и реферальные механики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0" y="3223394"/>
            <a:ext cx="4075881" cy="575221"/>
          </a:xfrm>
          <a:prstGeom prst="rect">
            <a:avLst/>
          </a:prstGeom>
          <a:solidFill>
            <a:srgbClr val="434348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0" y="3223394"/>
            <a:ext cx="14288" cy="575221"/>
          </a:xfrm>
          <a:prstGeom prst="roundRect">
            <a:avLst>
              <a:gd name="adj" fmla="val 111624"/>
            </a:avLst>
          </a:prstGeom>
          <a:solidFill>
            <a:srgbClr val="5C5C61"/>
          </a:solidFill>
          <a:ln/>
        </p:spPr>
      </p:sp>
      <p:sp>
        <p:nvSpPr>
          <p:cNvPr id="29" name="Text 27"/>
          <p:cNvSpPr/>
          <p:nvPr/>
        </p:nvSpPr>
        <p:spPr>
          <a:xfrm>
            <a:off x="4678263" y="3329657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Commission Model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78263" y="3543523"/>
            <a:ext cx="386335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Стабильный доход через торговые комиссии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96119" y="3798615"/>
            <a:ext cx="4075881" cy="575221"/>
          </a:xfrm>
          <a:prstGeom prst="rect">
            <a:avLst/>
          </a:prstGeom>
          <a:solidFill>
            <a:srgbClr val="434348"/>
          </a:solidFill>
          <a:ln/>
        </p:spPr>
      </p:sp>
      <p:sp>
        <p:nvSpPr>
          <p:cNvPr id="32" name="Shape 30"/>
          <p:cNvSpPr/>
          <p:nvPr/>
        </p:nvSpPr>
        <p:spPr>
          <a:xfrm>
            <a:off x="496119" y="3798615"/>
            <a:ext cx="4075881" cy="14288"/>
          </a:xfrm>
          <a:prstGeom prst="roundRect">
            <a:avLst>
              <a:gd name="adj" fmla="val 111624"/>
            </a:avLst>
          </a:prstGeom>
          <a:solidFill>
            <a:srgbClr val="5C5C61"/>
          </a:solidFill>
          <a:ln/>
        </p:spPr>
      </p:sp>
      <p:sp>
        <p:nvSpPr>
          <p:cNvPr id="33" name="Text 31"/>
          <p:cNvSpPr/>
          <p:nvPr/>
        </p:nvSpPr>
        <p:spPr>
          <a:xfrm>
            <a:off x="602382" y="3904878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Liquidity Growth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2382" y="4118744"/>
            <a:ext cx="386335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Постепенный рост ликвидности маркетов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0" y="3798615"/>
            <a:ext cx="4075881" cy="575221"/>
          </a:xfrm>
          <a:prstGeom prst="rect">
            <a:avLst/>
          </a:prstGeom>
          <a:solidFill>
            <a:srgbClr val="434348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0" y="3798615"/>
            <a:ext cx="14288" cy="575221"/>
          </a:xfrm>
          <a:prstGeom prst="roundRect">
            <a:avLst>
              <a:gd name="adj" fmla="val 111624"/>
            </a:avLst>
          </a:prstGeom>
          <a:solidFill>
            <a:srgbClr val="5C5C61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3798615"/>
            <a:ext cx="4075881" cy="14288"/>
          </a:xfrm>
          <a:prstGeom prst="roundRect">
            <a:avLst>
              <a:gd name="adj" fmla="val 111624"/>
            </a:avLst>
          </a:prstGeom>
          <a:solidFill>
            <a:srgbClr val="5C5C61"/>
          </a:solidFill>
          <a:ln/>
        </p:spPr>
      </p:sp>
      <p:sp>
        <p:nvSpPr>
          <p:cNvPr id="38" name="Text 36"/>
          <p:cNvSpPr/>
          <p:nvPr/>
        </p:nvSpPr>
        <p:spPr>
          <a:xfrm>
            <a:off x="4678263" y="3904878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Trader Retention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78263" y="4118744"/>
            <a:ext cx="386335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Удержание активных трейдеров через продуктовые механики</a:t>
            </a:r>
            <a:endParaRPr lang="en-US" sz="800" dirty="0"/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04440D49-BA9F-4DE0-0304-7A52E45AC554}"/>
              </a:ext>
            </a:extLst>
          </p:cNvPr>
          <p:cNvSpPr/>
          <p:nvPr/>
        </p:nvSpPr>
        <p:spPr>
          <a:xfrm>
            <a:off x="7860406" y="4696496"/>
            <a:ext cx="1283594" cy="447004"/>
          </a:xfrm>
          <a:prstGeom prst="rect">
            <a:avLst/>
          </a:prstGeom>
          <a:solidFill>
            <a:srgbClr val="2323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EA566-2EDE-F199-844E-BFB0CFB1A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83F4859-35B2-20B9-0E29-27AD00BDE257}"/>
              </a:ext>
            </a:extLst>
          </p:cNvPr>
          <p:cNvSpPr/>
          <p:nvPr/>
        </p:nvSpPr>
        <p:spPr>
          <a:xfrm>
            <a:off x="496119" y="641003"/>
            <a:ext cx="2480890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ru-RU" sz="19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Команда</a:t>
            </a:r>
            <a:endParaRPr lang="en-US" sz="19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72CAEB7-9612-BBD8-FF7A-3D2FCB2392CE}"/>
              </a:ext>
            </a:extLst>
          </p:cNvPr>
          <p:cNvSpPr/>
          <p:nvPr/>
        </p:nvSpPr>
        <p:spPr>
          <a:xfrm>
            <a:off x="496119" y="1080153"/>
            <a:ext cx="6028804" cy="248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0"/>
              </a:lnSpc>
            </a:pPr>
            <a:r>
              <a:rPr lang="ru-RU" sz="1550" dirty="0" err="1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Дмитрив</a:t>
            </a:r>
            <a:r>
              <a:rPr lang="ru-RU" sz="15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Денис Игоревич — аналитик-разработчик</a:t>
            </a:r>
            <a:endParaRPr lang="en-US" sz="15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924B14B-1408-B881-38CA-D85C057F4FFB}"/>
              </a:ext>
            </a:extLst>
          </p:cNvPr>
          <p:cNvSpPr/>
          <p:nvPr/>
        </p:nvSpPr>
        <p:spPr>
          <a:xfrm>
            <a:off x="496119" y="1378653"/>
            <a:ext cx="4032498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ru-RU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Работа с продуктовой аналитикой, логикой системы и технической реализацией </a:t>
            </a: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trading-</a:t>
            </a:r>
            <a:r>
              <a:rPr lang="ru-RU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механик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C1A43DB4-80FD-EB48-1395-B3F2CB1C9E26}"/>
              </a:ext>
            </a:extLst>
          </p:cNvPr>
          <p:cNvSpPr/>
          <p:nvPr/>
        </p:nvSpPr>
        <p:spPr>
          <a:xfrm>
            <a:off x="7860406" y="4696496"/>
            <a:ext cx="1283594" cy="447004"/>
          </a:xfrm>
          <a:prstGeom prst="rect">
            <a:avLst/>
          </a:prstGeom>
          <a:solidFill>
            <a:srgbClr val="2323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20444B22-A4E9-A136-68E7-18C18CA66868}"/>
              </a:ext>
            </a:extLst>
          </p:cNvPr>
          <p:cNvSpPr/>
          <p:nvPr/>
        </p:nvSpPr>
        <p:spPr>
          <a:xfrm>
            <a:off x="496119" y="1769173"/>
            <a:ext cx="6028804" cy="248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0"/>
              </a:lnSpc>
            </a:pPr>
            <a:r>
              <a:rPr lang="ru-RU" sz="1550" dirty="0" err="1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Новоженин</a:t>
            </a:r>
            <a:r>
              <a:rPr lang="ru-RU" sz="15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Никита Денисович — маркетолог</a:t>
            </a:r>
            <a:endParaRPr lang="en-US" sz="1550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E20300F6-FE9F-940C-C66D-81214545E4EC}"/>
              </a:ext>
            </a:extLst>
          </p:cNvPr>
          <p:cNvSpPr/>
          <p:nvPr/>
        </p:nvSpPr>
        <p:spPr>
          <a:xfrm>
            <a:off x="496119" y="2067673"/>
            <a:ext cx="4032498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50"/>
              </a:lnSpc>
            </a:pPr>
            <a:r>
              <a:rPr lang="en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Growth-</a:t>
            </a:r>
            <a:r>
              <a:rPr lang="ru-RU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стратегия, </a:t>
            </a:r>
            <a:r>
              <a:rPr lang="en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Telegram/X </a:t>
            </a:r>
            <a:r>
              <a:rPr lang="ru-RU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продвижение, работа с комьюнити и привлечением пользователей</a:t>
            </a:r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8719D8BB-ECEC-F264-0295-BAD16E0AABE7}"/>
              </a:ext>
            </a:extLst>
          </p:cNvPr>
          <p:cNvSpPr/>
          <p:nvPr/>
        </p:nvSpPr>
        <p:spPr>
          <a:xfrm>
            <a:off x="496119" y="2458193"/>
            <a:ext cx="6028804" cy="248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0"/>
              </a:lnSpc>
            </a:pPr>
            <a:r>
              <a:rPr lang="ru-RU" sz="15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Павленко Тимофей Сергеевич — разработчик</a:t>
            </a:r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972A2C6F-CD10-0D5D-DDE2-BCE9B1E84940}"/>
              </a:ext>
            </a:extLst>
          </p:cNvPr>
          <p:cNvSpPr/>
          <p:nvPr/>
        </p:nvSpPr>
        <p:spPr>
          <a:xfrm>
            <a:off x="496119" y="2756693"/>
            <a:ext cx="4032498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50"/>
              </a:lnSpc>
            </a:pPr>
            <a:r>
              <a:rPr lang="en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</a:t>
            </a:r>
            <a:r>
              <a:rPr lang="ru-RU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продуктовая разработка, торговый движок, </a:t>
            </a:r>
            <a:r>
              <a:rPr lang="en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</a:t>
            </a:r>
            <a:r>
              <a:rPr lang="ru-RU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инфраструктура платформы</a:t>
            </a:r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035C7135-8FF5-AEC8-CE3D-389B22E999EC}"/>
              </a:ext>
            </a:extLst>
          </p:cNvPr>
          <p:cNvSpPr/>
          <p:nvPr/>
        </p:nvSpPr>
        <p:spPr>
          <a:xfrm>
            <a:off x="496119" y="3147213"/>
            <a:ext cx="6028804" cy="248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0"/>
              </a:lnSpc>
            </a:pPr>
            <a:r>
              <a:rPr lang="ru-RU" sz="1550" dirty="0" err="1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Сопина</a:t>
            </a:r>
            <a:r>
              <a:rPr lang="ru-RU" sz="15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Яна Юрьевна — тимлид</a:t>
            </a:r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00A56A47-E68A-E88A-AA48-5CE4D3C726B9}"/>
              </a:ext>
            </a:extLst>
          </p:cNvPr>
          <p:cNvSpPr/>
          <p:nvPr/>
        </p:nvSpPr>
        <p:spPr>
          <a:xfrm>
            <a:off x="496119" y="3445713"/>
            <a:ext cx="4032498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50"/>
              </a:lnSpc>
            </a:pPr>
            <a:r>
              <a:rPr lang="ru-RU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Управление разработкой, координация команды, продуктовая логика и контроль реализации</a:t>
            </a:r>
          </a:p>
        </p:txBody>
      </p:sp>
      <p:sp>
        <p:nvSpPr>
          <p:cNvPr id="34" name="Shape 17">
            <a:extLst>
              <a:ext uri="{FF2B5EF4-FFF2-40B4-BE49-F238E27FC236}">
                <a16:creationId xmlns:a16="http://schemas.microsoft.com/office/drawing/2014/main" id="{C95E68BF-783C-7BCD-B629-EC85A2685B0C}"/>
              </a:ext>
            </a:extLst>
          </p:cNvPr>
          <p:cNvSpPr/>
          <p:nvPr/>
        </p:nvSpPr>
        <p:spPr>
          <a:xfrm>
            <a:off x="5250287" y="1080153"/>
            <a:ext cx="3709748" cy="2635533"/>
          </a:xfrm>
          <a:prstGeom prst="roundRect">
            <a:avLst>
              <a:gd name="adj" fmla="val 624"/>
            </a:avLst>
          </a:prstGeom>
          <a:solidFill>
            <a:srgbClr val="FDC4C4"/>
          </a:solidFill>
          <a:ln/>
        </p:spPr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CA7B5758-980C-1418-1CA4-A687A033B989}"/>
              </a:ext>
            </a:extLst>
          </p:cNvPr>
          <p:cNvSpPr/>
          <p:nvPr/>
        </p:nvSpPr>
        <p:spPr>
          <a:xfrm>
            <a:off x="5481296" y="1759294"/>
            <a:ext cx="3259165" cy="21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650"/>
              </a:lnSpc>
            </a:pPr>
            <a:r>
              <a:rPr lang="ru-RU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Ключевая компетенция команды</a:t>
            </a:r>
            <a:endParaRPr lang="en-US" sz="1300" dirty="0"/>
          </a:p>
        </p:txBody>
      </p:sp>
      <p:sp>
        <p:nvSpPr>
          <p:cNvPr id="41" name="Text 22">
            <a:extLst>
              <a:ext uri="{FF2B5EF4-FFF2-40B4-BE49-F238E27FC236}">
                <a16:creationId xmlns:a16="http://schemas.microsoft.com/office/drawing/2014/main" id="{AAC4A980-3174-3B18-89D2-CD9BA47CF6E5}"/>
              </a:ext>
            </a:extLst>
          </p:cNvPr>
          <p:cNvSpPr/>
          <p:nvPr/>
        </p:nvSpPr>
        <p:spPr>
          <a:xfrm>
            <a:off x="5481296" y="2146905"/>
            <a:ext cx="3344123" cy="1442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50"/>
              </a:lnSpc>
            </a:pPr>
            <a:r>
              <a:rPr lang="ru-RU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Способность быстро проектировать, запускать и развивать </a:t>
            </a: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high-engagement trading </a:t>
            </a:r>
            <a:r>
              <a:rPr lang="ru-RU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продукты с сетевыми эффектами и встроенной монетизацией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266833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7E033-C839-B404-76E6-CE91511C2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20DD2802-9FA2-6F08-0E62-C582103E886F}"/>
              </a:ext>
            </a:extLst>
          </p:cNvPr>
          <p:cNvSpPr/>
          <p:nvPr/>
        </p:nvSpPr>
        <p:spPr>
          <a:xfrm>
            <a:off x="496119" y="481013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50"/>
              </a:lnSpc>
            </a:pPr>
            <a:r>
              <a:rPr lang="ru-RU" sz="2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Инвестиционный запрос</a:t>
            </a:r>
            <a:endParaRPr lang="en-US" sz="27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C880BA0-1496-2B2D-86A0-2360042952B9}"/>
              </a:ext>
            </a:extLst>
          </p:cNvPr>
          <p:cNvSpPr/>
          <p:nvPr/>
        </p:nvSpPr>
        <p:spPr>
          <a:xfrm>
            <a:off x="496119" y="1025872"/>
            <a:ext cx="26076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16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Ask</a:t>
            </a:r>
            <a:r>
              <a:rPr lang="ru-RU" sz="16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: </a:t>
            </a:r>
            <a:r>
              <a:rPr lang="en" sz="16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$35,000 pre-seed </a:t>
            </a:r>
            <a:r>
              <a:rPr lang="ru-RU" sz="16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раунд.</a:t>
            </a:r>
            <a:endParaRPr lang="en-US" sz="1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CA1BBE5-505C-C436-EB88-E84FBE50A185}"/>
              </a:ext>
            </a:extLst>
          </p:cNvPr>
          <p:cNvSpPr/>
          <p:nvPr/>
        </p:nvSpPr>
        <p:spPr>
          <a:xfrm>
            <a:off x="496119" y="1834759"/>
            <a:ext cx="3902943" cy="1051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SAFE,</a:t>
            </a:r>
          </a:p>
          <a:p>
            <a:pPr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convertible note,</a:t>
            </a:r>
          </a:p>
          <a:p>
            <a:pPr marL="342900" indent="-342900">
              <a:lnSpc>
                <a:spcPts val="1750"/>
              </a:lnSpc>
              <a:buSzPct val="100000"/>
              <a:buChar char="•"/>
            </a:pPr>
            <a:r>
              <a:rPr lang="ru-RU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или</a:t>
            </a:r>
          </a:p>
          <a:p>
            <a:pPr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equity investment.</a:t>
            </a:r>
            <a:endParaRPr lang="en-US" sz="11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BFFA60F-86FE-9879-38CA-38A35C1D1B12}"/>
              </a:ext>
            </a:extLst>
          </p:cNvPr>
          <p:cNvSpPr/>
          <p:nvPr/>
        </p:nvSpPr>
        <p:spPr>
          <a:xfrm>
            <a:off x="496119" y="301652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13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 of Funds</a:t>
            </a:r>
            <a:endParaRPr lang="en-US" sz="13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E2E878F-93EC-7F62-674A-E2255FBF6D30}"/>
              </a:ext>
            </a:extLst>
          </p:cNvPr>
          <p:cNvSpPr/>
          <p:nvPr/>
        </p:nvSpPr>
        <p:spPr>
          <a:xfrm>
            <a:off x="496119" y="3379738"/>
            <a:ext cx="3902943" cy="1233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40% — product;</a:t>
            </a:r>
          </a:p>
          <a:p>
            <a:pPr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25% — marketing;</a:t>
            </a:r>
          </a:p>
          <a:p>
            <a:pPr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 — infrastructure;</a:t>
            </a:r>
          </a:p>
          <a:p>
            <a:pPr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 — legal setup;</a:t>
            </a:r>
          </a:p>
          <a:p>
            <a:pPr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 — operations.</a:t>
            </a:r>
            <a:endParaRPr lang="en-US" sz="11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B5261A0-CA6F-A13B-F046-384CEDBCCC22}"/>
              </a:ext>
            </a:extLst>
          </p:cNvPr>
          <p:cNvSpPr/>
          <p:nvPr/>
        </p:nvSpPr>
        <p:spPr>
          <a:xfrm>
            <a:off x="7860406" y="4696496"/>
            <a:ext cx="1283594" cy="447004"/>
          </a:xfrm>
          <a:prstGeom prst="rect">
            <a:avLst/>
          </a:prstGeom>
          <a:solidFill>
            <a:srgbClr val="2323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ADB44F98-0F79-DB11-E56C-1DA89C7431B3}"/>
              </a:ext>
            </a:extLst>
          </p:cNvPr>
          <p:cNvSpPr/>
          <p:nvPr/>
        </p:nvSpPr>
        <p:spPr>
          <a:xfrm>
            <a:off x="496119" y="15623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0"/>
              </a:lnSpc>
            </a:pPr>
            <a:r>
              <a:rPr lang="ru-RU" sz="13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Формат:</a:t>
            </a:r>
            <a:endParaRPr lang="en-US" sz="1350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5443A905-F7D8-90D8-9323-5AFC5485D24F}"/>
              </a:ext>
            </a:extLst>
          </p:cNvPr>
          <p:cNvSpPr/>
          <p:nvPr/>
        </p:nvSpPr>
        <p:spPr>
          <a:xfrm>
            <a:off x="4778345" y="15623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13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Milestones</a:t>
            </a:r>
            <a:endParaRPr lang="en-US" sz="135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8DCF4D6A-9087-1AD8-DF32-F933957F1063}"/>
              </a:ext>
            </a:extLst>
          </p:cNvPr>
          <p:cNvSpPr/>
          <p:nvPr/>
        </p:nvSpPr>
        <p:spPr>
          <a:xfrm>
            <a:off x="4778345" y="2149805"/>
            <a:ext cx="3902943" cy="2095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0"/>
              </a:lnSpc>
              <a:buSzPct val="100000"/>
              <a:buChar char="•"/>
            </a:pPr>
            <a:r>
              <a:rPr lang="ru-RU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публичный </a:t>
            </a: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MVP;</a:t>
            </a:r>
          </a:p>
          <a:p>
            <a:pPr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2k+ </a:t>
            </a:r>
            <a:r>
              <a:rPr lang="ru-RU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пользователей;</a:t>
            </a:r>
          </a:p>
          <a:p>
            <a:pPr marL="342900" indent="-342900">
              <a:lnSpc>
                <a:spcPts val="1750"/>
              </a:lnSpc>
              <a:buSzPct val="100000"/>
              <a:buChar char="•"/>
            </a:pPr>
            <a:r>
              <a:rPr lang="ru-RU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$50</a:t>
            </a: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k+ trading volume;</a:t>
            </a:r>
          </a:p>
          <a:p>
            <a:pPr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referral system;</a:t>
            </a:r>
          </a:p>
          <a:p>
            <a:pPr marL="342900" indent="-342900">
              <a:lnSpc>
                <a:spcPts val="1750"/>
              </a:lnSpc>
              <a:buSzPct val="100000"/>
              <a:buChar char="•"/>
            </a:pPr>
            <a:r>
              <a:rPr lang="ru-RU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первые </a:t>
            </a: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revenue;</a:t>
            </a:r>
          </a:p>
          <a:p>
            <a:pPr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international legal structure.</a:t>
            </a:r>
            <a:endParaRPr lang="en-US" sz="110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487EB475-8869-89A5-B6BF-54F30D267ACE}"/>
              </a:ext>
            </a:extLst>
          </p:cNvPr>
          <p:cNvSpPr/>
          <p:nvPr/>
        </p:nvSpPr>
        <p:spPr>
          <a:xfrm>
            <a:off x="4778345" y="178382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0"/>
              </a:lnSpc>
            </a:pPr>
            <a:r>
              <a:rPr lang="ru-RU" sz="11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За 6 месяцев:</a:t>
            </a:r>
            <a:endParaRPr lang="en-US" sz="1100" dirty="0"/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36B55B1A-B619-690A-10D2-74059A2908CA}"/>
              </a:ext>
            </a:extLst>
          </p:cNvPr>
          <p:cNvSpPr/>
          <p:nvPr/>
        </p:nvSpPr>
        <p:spPr>
          <a:xfrm>
            <a:off x="4744940" y="3641919"/>
            <a:ext cx="3823618" cy="829196"/>
          </a:xfrm>
          <a:prstGeom prst="roundRect">
            <a:avLst>
              <a:gd name="adj" fmla="val 2565"/>
            </a:avLst>
          </a:prstGeom>
          <a:solidFill>
            <a:srgbClr val="022349"/>
          </a:solidFill>
          <a:ln/>
        </p:spPr>
      </p:sp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B57CBE84-6683-C9E5-08C7-4307D0F55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5387" y="3985765"/>
            <a:ext cx="177180" cy="141759"/>
          </a:xfrm>
          <a:prstGeom prst="rect">
            <a:avLst/>
          </a:prstGeom>
        </p:spPr>
      </p:pic>
      <p:sp>
        <p:nvSpPr>
          <p:cNvPr id="20" name="Text 10">
            <a:extLst>
              <a:ext uri="{FF2B5EF4-FFF2-40B4-BE49-F238E27FC236}">
                <a16:creationId xmlns:a16="http://schemas.microsoft.com/office/drawing/2014/main" id="{79ACB211-6151-B10E-9E14-6D5501A16BE8}"/>
              </a:ext>
            </a:extLst>
          </p:cNvPr>
          <p:cNvSpPr/>
          <p:nvPr/>
        </p:nvSpPr>
        <p:spPr>
          <a:xfrm>
            <a:off x="5274326" y="3947889"/>
            <a:ext cx="322116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Основание: roadmap+ допущение команды.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7643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879</Words>
  <Application>Microsoft Macintosh PowerPoint</Application>
  <PresentationFormat>Экран (16:9)</PresentationFormat>
  <Paragraphs>218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Instrument Sans Medium</vt:lpstr>
      <vt:lpstr>Inter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Тимофей Павленко</cp:lastModifiedBy>
  <cp:revision>2</cp:revision>
  <dcterms:created xsi:type="dcterms:W3CDTF">2026-05-12T11:50:19Z</dcterms:created>
  <dcterms:modified xsi:type="dcterms:W3CDTF">2026-05-12T12:13:15Z</dcterms:modified>
</cp:coreProperties>
</file>