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Оптимистичный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М1-М3</c:v>
                  </c:pt>
                  <c:pt idx="1">
                    <c:v>М4-М6</c:v>
                  </c:pt>
                  <c:pt idx="2">
                    <c:v>М7-М12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-30000</c:v>
                </c:pt>
                <c:pt idx="1">
                  <c:v>20000</c:v>
                </c:pt>
                <c:pt idx="2">
                  <c:v>600000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Базовый</c:v>
                </c:pt>
              </c:strCache>
            </c:strRef>
          </c:tx>
          <c:spPr>
            <a:solidFill>
              <a:srgbClr val="0D6EF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М1-М3</c:v>
                  </c:pt>
                  <c:pt idx="1">
                    <c:v>М4-М6</c:v>
                  </c:pt>
                  <c:pt idx="2">
                    <c:v>М7-М12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-50000</c:v>
                </c:pt>
                <c:pt idx="1">
                  <c:v>-60000</c:v>
                </c:pt>
                <c:pt idx="2">
                  <c:v>350000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Консервативный</c:v>
                </c:pt>
              </c:strCache>
            </c:strRef>
          </c:tx>
          <c:spPr>
            <a:solidFill>
              <a:srgbClr val="E845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М1-М3</c:v>
                  </c:pt>
                  <c:pt idx="1">
                    <c:v>М4-М6</c:v>
                  </c:pt>
                  <c:pt idx="2">
                    <c:v>М7-М12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-70000</c:v>
                </c:pt>
                <c:pt idx="1">
                  <c:v>-100000</c:v>
                </c:pt>
                <c:pt idx="2">
                  <c:v>-50000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00C9A7"/>
                </a:solidFill>
              </a:rPr>
              <a:t>СТАРТАП В ИТ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PredictRU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C9A7"/>
                </a:solidFill>
              </a:rPr>
              <a:t>Рынок предсказаний для России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Стратегия роста · Финансовый план · Оценка компании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931920"/>
            <a:ext cx="2651760" cy="868680"/>
          </a:xfrm>
          <a:prstGeom prst="rect">
            <a:avLst/>
          </a:prstGeom>
          <a:solidFill>
            <a:srgbClr val="1625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9502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</a:rPr>
              <a:t>100K ₽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43616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Начальный капитал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3931920"/>
            <a:ext cx="2651760" cy="868680"/>
          </a:xfrm>
          <a:prstGeom prst="rect">
            <a:avLst/>
          </a:prstGeom>
          <a:solidFill>
            <a:srgbClr val="1625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9502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</a:rPr>
              <a:t>2%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91840" y="43616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Комиссия с выигрыша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2651760" cy="868680"/>
          </a:xfrm>
          <a:prstGeom prst="rect">
            <a:avLst/>
          </a:prstGeom>
          <a:solidFill>
            <a:srgbClr val="1625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39502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</a:rPr>
              <a:t>5–15M ₽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17920" y="43616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Оценка компании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СОДЕРЖАНИЕ ПРЕЗЕНТАЦИИ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14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01  Продукт и позиционирование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7276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02  Ядро роста и цели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31136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3113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03  Эксперименты 0–3 мес.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89504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88950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04  Эксперименты 3–12 мес.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547872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54787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05  Финансовый план — Базовый сценарий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20624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42062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06  Три сценария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9144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07  Анализ чувствительности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572768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157276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08  Оценка компании — Мультипликаторы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231136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223113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09  Оценка компании — Венчурный метод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889504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288950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10  Итоговый диапазон и допущения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47872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5478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11  План повышения оценки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420624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92040" y="4206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12  Следующие шаги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01 · ПРОДУКТ И ПОЗИЦИОНИРОВАНИЕ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PredictRU — российский аналог Polymarket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45920"/>
            <a:ext cx="91440" cy="13258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📊  Что это?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5566"/>
                </a:solidFill>
              </a:rPr>
              <a:t>Платформа предсказательных рынков: пользователи делают ставки на исходы реальных событий (курсы валют, спорт, политика) с помощью внутренней валюты.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64592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645920"/>
            <a:ext cx="91440" cy="13258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🇷🇺  Фокус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21031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5566"/>
                </a:solidFill>
              </a:rPr>
              <a:t>Исключительно российские инфоповоды — события, близкие и понятные локальной аудитории: ЦБ, ММВБ, РПЛ, выборы.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54680"/>
            <a:ext cx="91440" cy="13258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46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💳  Платёжка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5566"/>
                </a:solidFill>
              </a:rPr>
              <a:t>Пополнение и вывод через СБП — быстро, без комиссий и без необходимости карт иностранных систем.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315468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3154680"/>
            <a:ext cx="91440" cy="13258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246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💰  Монетизация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6118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5566"/>
                </a:solidFill>
              </a:rPr>
              <a:t>Комиссия 2% с выигрыша. Простая, понятная механика — платят только победители.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02 · ЯДРО РОСТА И ЦЕЛИ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🚀  Главный драйвер: Контент и комьюнити (Viral / Content Loop)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Цели на 3 месяца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2450592"/>
            <a:ext cx="274320" cy="2743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317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1 000 активных пользователей (MAU)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90088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3108960"/>
            <a:ext cx="274320" cy="2743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9008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Объём ставок — 500 000 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648456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3767328"/>
            <a:ext cx="274320" cy="2743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4845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Retention 1-й недели ≥ 20%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828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Цели на 12 месяцев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64608" y="2450592"/>
            <a:ext cx="274320" cy="274320"/>
          </a:xfrm>
          <a:prstGeom prst="ellipse">
            <a:avLst/>
          </a:prstGeom>
          <a:solidFill>
            <a:srgbClr val="009E83"/>
          </a:solidFill>
          <a:ln w="12700">
            <a:solidFill>
              <a:srgbClr val="009E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23317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15 000 активных пользователей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990088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3108960"/>
            <a:ext cx="274320" cy="274320"/>
          </a:xfrm>
          <a:prstGeom prst="ellipse">
            <a:avLst/>
          </a:prstGeom>
          <a:solidFill>
            <a:srgbClr val="009E83"/>
          </a:solidFill>
          <a:ln w="12700">
            <a:solidFill>
              <a:srgbClr val="009E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299008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Ежемесячный оборот — 5 000 000 ₽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648456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64608" y="3767328"/>
            <a:ext cx="274320" cy="274320"/>
          </a:xfrm>
          <a:prstGeom prst="ellipse">
            <a:avLst/>
          </a:prstGeom>
          <a:solidFill>
            <a:srgbClr val="009E83"/>
          </a:solidFill>
          <a:ln w="12700">
            <a:solidFill>
              <a:srgbClr val="009E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364845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ARR от комиссий — 3 000 000 ₽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03 · ЭКСПЕРИМЕНТЫ — 0–3 МЕСЯЦА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19456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Гипотеза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868680"/>
            <a:ext cx="246888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8686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Что делаем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868680"/>
            <a:ext cx="146304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8686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Метрика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868680"/>
            <a:ext cx="91440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86868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Срок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868680"/>
            <a:ext cx="173736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8686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Риски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280160"/>
            <a:ext cx="2194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28016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Локальные инфоповоды (курсы валют)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128016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128016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5 рынков/нед. по новостям РФ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1280160"/>
            <a:ext cx="1463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28016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+300 юзеров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1280160"/>
            <a:ext cx="914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28016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4 нед.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0" y="1280160"/>
            <a:ext cx="1737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0920" y="128016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Низкий интерес к темам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286000"/>
            <a:ext cx="2194560" cy="960120"/>
          </a:xfrm>
          <a:prstGeom prst="rect">
            <a:avLst/>
          </a:prstGeom>
          <a:solidFill>
            <a:srgbClr val="EEF4F7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28600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Реферальная программа «Приведи друга»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68880" y="2286000"/>
            <a:ext cx="2468880" cy="960120"/>
          </a:xfrm>
          <a:prstGeom prst="rect">
            <a:avLst/>
          </a:prstGeom>
          <a:solidFill>
            <a:srgbClr val="EEF4F7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228600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Бонусные баллы за регистрацию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2286000"/>
            <a:ext cx="1463040" cy="960120"/>
          </a:xfrm>
          <a:prstGeom prst="rect">
            <a:avLst/>
          </a:prstGeom>
          <a:solidFill>
            <a:srgbClr val="EEF4F7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228600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Viral Coeff. &gt; 0.2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2286000"/>
            <a:ext cx="914400" cy="960120"/>
          </a:xfrm>
          <a:prstGeom prst="rect">
            <a:avLst/>
          </a:prstGeom>
          <a:solidFill>
            <a:srgbClr val="EEF4F7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228600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4 нед.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0" y="2286000"/>
            <a:ext cx="1737360" cy="960120"/>
          </a:xfrm>
          <a:prstGeom prst="rect">
            <a:avLst/>
          </a:prstGeom>
          <a:solidFill>
            <a:srgbClr val="EEF4F7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228600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Фрод (накрутки)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291840"/>
            <a:ext cx="2194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29184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Интеграция в Telegram-каналы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468880" y="329184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329184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Рассылка результатов как «мнение рынка»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37760" y="3291840"/>
            <a:ext cx="1463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29184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5 публикаций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3291840"/>
            <a:ext cx="914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6520" y="329184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8 нед.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15200" y="3291840"/>
            <a:ext cx="1737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60920" y="329184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Отказ админов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9E83"/>
                </a:solidFill>
              </a:rPr>
              <a:t>💡  Фокус первых месяцев — органический рост через контент и реферальный механизм при минимальных затратах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04 · ЭКСПЕРИМЕНТЫ — 3–12 МЕСЯЦЕВ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194560" cy="411480"/>
          </a:xfrm>
          <a:prstGeom prst="rect">
            <a:avLst/>
          </a:prstGeom>
          <a:solidFill>
            <a:srgbClr val="009E83"/>
          </a:solidFill>
          <a:ln w="12700">
            <a:solidFill>
              <a:srgbClr val="009E8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Гипотеза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868680"/>
            <a:ext cx="2468880" cy="411480"/>
          </a:xfrm>
          <a:prstGeom prst="rect">
            <a:avLst/>
          </a:prstGeom>
          <a:solidFill>
            <a:srgbClr val="009E83"/>
          </a:solidFill>
          <a:ln w="12700">
            <a:solidFill>
              <a:srgbClr val="009E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8686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Что делаем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868680"/>
            <a:ext cx="1463040" cy="411480"/>
          </a:xfrm>
          <a:prstGeom prst="rect">
            <a:avLst/>
          </a:prstGeom>
          <a:solidFill>
            <a:srgbClr val="009E83"/>
          </a:solidFill>
          <a:ln w="12700">
            <a:solidFill>
              <a:srgbClr val="009E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8686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Метрика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868680"/>
            <a:ext cx="914400" cy="411480"/>
          </a:xfrm>
          <a:prstGeom prst="rect">
            <a:avLst/>
          </a:prstGeom>
          <a:solidFill>
            <a:srgbClr val="009E83"/>
          </a:solidFill>
          <a:ln w="12700">
            <a:solidFill>
              <a:srgbClr val="009E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86868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Срок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868680"/>
            <a:ext cx="1737360" cy="411480"/>
          </a:xfrm>
          <a:prstGeom prst="rect">
            <a:avLst/>
          </a:prstGeom>
          <a:solidFill>
            <a:srgbClr val="009E83"/>
          </a:solidFill>
          <a:ln w="12700">
            <a:solidFill>
              <a:srgbClr val="009E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8686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Риски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280160"/>
            <a:ext cx="2194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28016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Виджеты для СМИ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128016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128016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API для графиков вероятностей в новостях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1280160"/>
            <a:ext cx="1463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28016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10 внешних сайтов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1280160"/>
            <a:ext cx="914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28016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12 нед.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0" y="1280160"/>
            <a:ext cx="1737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0920" y="128016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Сложность интеграции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286000"/>
            <a:ext cx="2194560" cy="960120"/>
          </a:xfrm>
          <a:prstGeom prst="rect">
            <a:avLst/>
          </a:prstGeom>
          <a:solidFill>
            <a:srgbClr val="EEF4F7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28600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Система «Экспертов»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68880" y="2286000"/>
            <a:ext cx="2468880" cy="960120"/>
          </a:xfrm>
          <a:prstGeom prst="rect">
            <a:avLst/>
          </a:prstGeom>
          <a:solidFill>
            <a:srgbClr val="EEF4F7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228600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Бейджи и лидерборды для лучших предсказателей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2286000"/>
            <a:ext cx="1463040" cy="960120"/>
          </a:xfrm>
          <a:prstGeom prst="rect">
            <a:avLst/>
          </a:prstGeom>
          <a:solidFill>
            <a:srgbClr val="EEF4F7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228600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Retention +15%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2286000"/>
            <a:ext cx="914400" cy="960120"/>
          </a:xfrm>
          <a:prstGeom prst="rect">
            <a:avLst/>
          </a:prstGeom>
          <a:solidFill>
            <a:srgbClr val="EEF4F7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228600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8 нед.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0" y="2286000"/>
            <a:ext cx="1737360" cy="960120"/>
          </a:xfrm>
          <a:prstGeom prst="rect">
            <a:avLst/>
          </a:prstGeom>
          <a:solidFill>
            <a:srgbClr val="EEF4F7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228600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Токсичность сообщества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291840"/>
            <a:ext cx="2194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29184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Партнёрство с финблогерами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468880" y="329184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329184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Платные обзоры как инструмент хеджирования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37760" y="3291840"/>
            <a:ext cx="1463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29184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ROI &gt; 150%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3291840"/>
            <a:ext cx="914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6520" y="329184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12 нед.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15200" y="3291840"/>
            <a:ext cx="1737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60920" y="329184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Высокий CAC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9E83"/>
                </a:solidFill>
              </a:rPr>
              <a:t>📈  Второй этап — масштабирование через B2B-каналы (СМИ, блогеры) и удержание через геймификацию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05 · ФИНАНСОВЫЙ ПЛАН — БАЗОВЫЙ СЦЕНАРИЙ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9260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9A7"/>
                </a:solidFill>
              </a:rPr>
              <a:t>Показатель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0" y="868680"/>
            <a:ext cx="19202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868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9A7"/>
                </a:solidFill>
              </a:rPr>
              <a:t>М1–М3 (Запуск)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120640" y="868680"/>
            <a:ext cx="19202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868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9A7"/>
                </a:solidFill>
              </a:rPr>
              <a:t>М4–М6 (Рост)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040880" y="868680"/>
            <a:ext cx="19202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868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9A7"/>
                </a:solidFill>
              </a:rPr>
              <a:t>М7–М12 (Масштаб)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32588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2588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Лиды / Трафик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1325880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3258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5 000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20640" y="1325880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13258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15 000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40880" y="1325880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13258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60 000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1828800"/>
            <a:ext cx="2926080" cy="475488"/>
          </a:xfrm>
          <a:prstGeom prst="rect">
            <a:avLst/>
          </a:prstGeom>
          <a:solidFill>
            <a:srgbClr val="EEF4F7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82880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Конверсия в регистрацию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1828800"/>
            <a:ext cx="1920240" cy="475488"/>
          </a:xfrm>
          <a:prstGeom prst="rect">
            <a:avLst/>
          </a:prstGeom>
          <a:solidFill>
            <a:srgbClr val="EEF4F7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182880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10%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20640" y="1828800"/>
            <a:ext cx="1920240" cy="475488"/>
          </a:xfrm>
          <a:prstGeom prst="rect">
            <a:avLst/>
          </a:prstGeom>
          <a:solidFill>
            <a:srgbClr val="EEF4F7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182880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12%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040880" y="1828800"/>
            <a:ext cx="1920240" cy="475488"/>
          </a:xfrm>
          <a:prstGeom prst="rect">
            <a:avLst/>
          </a:prstGeom>
          <a:solidFill>
            <a:srgbClr val="EEF4F7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182880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15%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33172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33172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Платящие пользователи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0" y="2331720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23317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300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120640" y="2331720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23317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1 500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040880" y="2331720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86600" y="23317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7 000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2834640"/>
            <a:ext cx="2926080" cy="475488"/>
          </a:xfrm>
          <a:prstGeom prst="rect">
            <a:avLst/>
          </a:prstGeom>
          <a:solidFill>
            <a:srgbClr val="EEF4F7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283464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Выручка (комиссия 2%)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0" y="2834640"/>
            <a:ext cx="1920240" cy="475488"/>
          </a:xfrm>
          <a:prstGeom prst="rect">
            <a:avLst/>
          </a:prstGeom>
          <a:solidFill>
            <a:srgbClr val="EEF4F7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46120" y="28346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10 000 ₽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120640" y="2834640"/>
            <a:ext cx="1920240" cy="475488"/>
          </a:xfrm>
          <a:prstGeom prst="rect">
            <a:avLst/>
          </a:prstGeom>
          <a:solidFill>
            <a:srgbClr val="EEF4F7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66360" y="28346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90 000 ₽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040880" y="2834640"/>
            <a:ext cx="1920240" cy="475488"/>
          </a:xfrm>
          <a:prstGeom prst="rect">
            <a:avLst/>
          </a:prstGeom>
          <a:solidFill>
            <a:srgbClr val="EEF4F7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86600" y="28346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750 000 ₽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333756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3375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Затраты (маркетинг + хостинг)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200400" y="3337560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46120" y="33375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60 000 ₽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120640" y="3337560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66360" y="33375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150 000 ₽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040880" y="3337560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86600" y="33375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400 000 ₽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3840480"/>
            <a:ext cx="2926080" cy="475488"/>
          </a:xfrm>
          <a:prstGeom prst="rect">
            <a:avLst/>
          </a:prstGeom>
          <a:solidFill>
            <a:srgbClr val="EEF4F7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384048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Операционный результат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200400" y="3840480"/>
            <a:ext cx="1920240" cy="47548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46120" y="38404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453C"/>
                </a:solidFill>
              </a:rPr>
              <a:t>−50 000 ₽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120640" y="3840480"/>
            <a:ext cx="1920240" cy="47548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66360" y="38404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453C"/>
                </a:solidFill>
              </a:rPr>
              <a:t>−60 000 ₽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040880" y="3840480"/>
            <a:ext cx="1920240" cy="475488"/>
          </a:xfrm>
          <a:prstGeom prst="rect">
            <a:avLst/>
          </a:prstGeom>
          <a:solidFill>
            <a:srgbClr val="E8FFF5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86600" y="38404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7A48"/>
                </a:solidFill>
              </a:rPr>
              <a:t>+350 000 ₽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274320" y="44805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Начальный капитал: 100 000 ₽  ·  Монетизация: 2% с выигрыша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06 · ТРИ СЦЕНАРИЯ РАЗВИТИЯ</a:t>
            </a:r>
            <a:endParaRPr lang="en-US" sz="1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6868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005840"/>
            <a:ext cx="3017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89320" y="1051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Оптимистичный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89320" y="13990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Прибыль к 6 месяцу за счёт виральности. Viral Coefficient &gt; 0.5, органический трафик.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852160" y="2240280"/>
            <a:ext cx="3017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89320" y="2286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6EFD"/>
                </a:solidFill>
              </a:rPr>
              <a:t>Базовый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89320" y="263347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Самоокупаемость к 9 месяцу. Плановый рост, нет форс-мажоров.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52160" y="3474720"/>
            <a:ext cx="3017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45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89320" y="3520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53C"/>
                </a:solidFill>
              </a:rPr>
              <a:t>Консервативный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89320" y="386791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Дофинансирование на 10 месяце. Капитал исчерпан, CAC выше плана.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07 · АНАЛИЗ ЧУВСТВИТЕЛЬНОСТИ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09728" cy="11430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0789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Конверсия в ставку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8866"/>
                </a:solidFill>
              </a:rPr>
              <a:t>Базовое: 10%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453C"/>
                </a:solidFill>
              </a:rPr>
              <a:t>Стресс: 5%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1B2A"/>
                </a:solidFill>
              </a:rPr>
              <a:t>⚡ Срок окупаемости +6 мес.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1371600"/>
            <a:ext cx="3200400" cy="274320"/>
          </a:xfrm>
          <a:prstGeom prst="rect">
            <a:avLst/>
          </a:prstGeom>
          <a:solidFill>
            <a:srgbClr val="E2ECF0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1371600"/>
            <a:ext cx="2400300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1155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Уровень риска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86000"/>
            <a:ext cx="109728" cy="11430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5915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359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Средний чек (ARPU)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8866"/>
                </a:solidFill>
              </a:rPr>
              <a:t>Базовое: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453C"/>
                </a:solidFill>
              </a:rPr>
              <a:t>Стресс: −50%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3063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1B2A"/>
                </a:solidFill>
              </a:rPr>
              <a:t>⚡ Проект убыточен на горизонте 12 мес.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2651760"/>
            <a:ext cx="3200400" cy="274320"/>
          </a:xfrm>
          <a:prstGeom prst="rect">
            <a:avLst/>
          </a:prstGeom>
          <a:solidFill>
            <a:srgbClr val="E2ECF0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2651760"/>
            <a:ext cx="288036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23957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Уровень риска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66160"/>
            <a:ext cx="109728" cy="11430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3931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36393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Стоимость привлечения (CAC)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8866"/>
                </a:solidFill>
              </a:rPr>
              <a:t>Базовое: ≤ 30 ₽ / лид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2608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453C"/>
                </a:solidFill>
              </a:rPr>
              <a:t>Стресс: &gt; 30 ₽ / лид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1B2A"/>
                </a:solidFill>
              </a:rPr>
              <a:t>⚡ Капитал исчерпан на 2-м месяце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3931920"/>
            <a:ext cx="3200400" cy="274320"/>
          </a:xfrm>
          <a:prstGeom prst="rect">
            <a:avLst/>
          </a:prstGeom>
          <a:solidFill>
            <a:srgbClr val="E2ECF0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0" y="3931920"/>
            <a:ext cx="304038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36758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Уровень риска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</a:rPr>
              <a:t>08 · ОЦЕНКА КОМПАНИИ — МЕТОД МУЛЬТИПЛИКАТОРОВ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</a:rPr>
              <a:t>Comparables (аналоги Fintech / Betting)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06040" cy="1828800"/>
          </a:xfrm>
          <a:prstGeom prst="rect">
            <a:avLst/>
          </a:prstGeom>
          <a:solidFill>
            <a:srgbClr val="1625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ARR (прогноз, год 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A7"/>
                </a:solidFill>
              </a:rPr>
              <a:t>3 000 000 ₽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71800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C9A7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46120" y="1600200"/>
            <a:ext cx="2606040" cy="1828800"/>
          </a:xfrm>
          <a:prstGeom prst="rect">
            <a:avLst/>
          </a:prstGeom>
          <a:solidFill>
            <a:srgbClr val="1625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6916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Мультипликатор отрасли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233172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A7"/>
                </a:solidFill>
              </a:rPr>
              <a:t>4–6× ARR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852160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C9A7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26480" y="1600200"/>
            <a:ext cx="2606040" cy="1828800"/>
          </a:xfrm>
          <a:prstGeom prst="rect">
            <a:avLst/>
          </a:prstGeom>
          <a:solidFill>
            <a:srgbClr val="1625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6916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Оценка компании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33172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A7"/>
                </a:solidFill>
              </a:rPr>
              <a:t>12 – 18 млн ₽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8412480" cy="1051560"/>
          </a:xfrm>
          <a:prstGeom prst="rect">
            <a:avLst/>
          </a:prstGeom>
          <a:solidFill>
            <a:srgbClr val="162535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3075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💎  Итоговая оценка по мультипликаторам: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12 000 000 – 18 000 000 ₽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</a:rPr>
              <a:t>09 · ОЦЕНКА КОМПАНИИ — ВЕНЧУРНЫЙ МЕТОД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Упрощённая модель для ранней стадии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8595360" cy="868680"/>
          </a:xfrm>
          <a:prstGeom prst="rect">
            <a:avLst/>
          </a:prstGeom>
          <a:solidFill>
            <a:srgbClr val="16253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08760"/>
            <a:ext cx="109728" cy="8686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361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Прогноз Exit Value (3 года)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Поглощение банком / букмекером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0" y="1536192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</a:rPr>
              <a:t>50 000 000 ₽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868680"/>
          </a:xfrm>
          <a:prstGeom prst="rect">
            <a:avLst/>
          </a:prstGeom>
          <a:solidFill>
            <a:srgbClr val="16253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468880"/>
            <a:ext cx="109728" cy="8686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963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Требуемая доходность инвестора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834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Стандарт венчурного рынка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2496312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</a:rPr>
              <a:t>10×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74320" y="3429000"/>
            <a:ext cx="8595360" cy="868680"/>
          </a:xfrm>
          <a:prstGeom prst="rect">
            <a:avLst/>
          </a:prstGeom>
          <a:solidFill>
            <a:srgbClr val="16253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429000"/>
            <a:ext cx="109728" cy="8686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564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Post-money оценка сегодня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794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50M ÷ 10×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3456432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</a:rPr>
              <a:t>5 000 000 ₽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74320" y="4480560"/>
            <a:ext cx="8595360" cy="548640"/>
          </a:xfrm>
          <a:prstGeom prst="rect">
            <a:avLst/>
          </a:prstGeom>
          <a:solidFill>
            <a:srgbClr val="162535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66"/>
                </a:solidFill>
              </a:rPr>
              <a:t>💎  Оценка по венчурному методу: 5 000 000 ₽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10 · ИТОГОВЫЙ ДИАПАЗОН И ДОПУЩЕНИЯ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Итоговый диапазон оценки компании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9A7"/>
                </a:solidFill>
              </a:rPr>
              <a:t>5 000 000 – 15 000 000 ₽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240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Мультипликаторы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877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A7"/>
                </a:solidFill>
              </a:rPr>
              <a:t>12–18 млн ₽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9077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Верхняя граница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219456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2240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Венчурный метод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25877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A7"/>
                </a:solidFill>
              </a:rPr>
              <a:t>5 млн ₽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29077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Нижняя граница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219456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2240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Взвешенный итог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5877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A7"/>
                </a:solidFill>
              </a:rPr>
              <a:t>~10 млн ₽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29077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Целевая оценка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3429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Ключевые допущения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8404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Конверсия в ставку удерживается на уровне 10% и выше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88620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38404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CAC из Telegram не превышает 30 ₽ / лид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361688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3159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Средний объём ставки остаётся стабильным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4361688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43159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Регуляторная среда не изменяется критически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11 · ПЛАН ПОВЫШЕНИЯ ОЦЕНКИ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Что нужно доказать инвесторам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447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🔁  Retention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6479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</a:rPr>
              <a:t>Пользователи возвращаются делать ставки каждую неделю. Целевой показатель — W1 Retention ≥ 20%.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221992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2494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📐  Unit-экономика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6946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</a:rPr>
              <a:t>LTV ≥ 3 × CAC. Текущая задача — удерживать CAC ниже 30 ₽ из Telegram.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3026664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0540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✅  Кейсы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37413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</a:rPr>
              <a:t>10+ успешных закрытых рынков с корректными предсказаниями и выплатами.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Шаги на ближайшие 4–8 недель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41732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554480"/>
            <a:ext cx="365760" cy="3657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0" y="1444752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Push-уведомления о завершении рынков → рост Retention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221992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359152"/>
            <a:ext cx="365760" cy="3657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359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2249424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3 A/B теста лендинга для снижения CAC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3026664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163824"/>
            <a:ext cx="365760" cy="3657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1638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3054096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LOI с Telegram-каналом об эксклюзивных вопросах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3977640"/>
            <a:ext cx="8412480" cy="822960"/>
          </a:xfrm>
          <a:prstGeom prst="rect">
            <a:avLst/>
          </a:prstGeom>
          <a:solidFill>
            <a:srgbClr val="0A25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C9A7"/>
                </a:solidFill>
              </a:rPr>
              <a:t>💸  Запрос ресурсов: 500 000 ₽ на маркетинг и серверную инфраструктуру для выхода на оптимистичный сценарий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</a:rPr>
              <a:t>12 · СЛЕДУЮЩИЕ ШАГИ И ЗАКЛЮЧЕНИЕ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777240"/>
          </a:xfrm>
          <a:prstGeom prst="rect">
            <a:avLst/>
          </a:prstGeom>
          <a:solidFill>
            <a:srgbClr val="16253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1371600" cy="7772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Нед. 1–2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0058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Запуск push-уведомлений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005840"/>
            <a:ext cx="210312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0058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🎯 Retention W1 ≥ 20%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8595360" cy="777240"/>
          </a:xfrm>
          <a:prstGeom prst="rect">
            <a:avLst/>
          </a:prstGeom>
          <a:solidFill>
            <a:srgbClr val="16253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828800"/>
            <a:ext cx="1371600" cy="7772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288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Нед. 3–4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18745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A/B тест лендинга (3 варианта)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1874520"/>
            <a:ext cx="210312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8745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🎯 CAC ≤ 30 ₽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697480"/>
            <a:ext cx="8595360" cy="777240"/>
          </a:xfrm>
          <a:prstGeom prst="rect">
            <a:avLst/>
          </a:prstGeom>
          <a:solidFill>
            <a:srgbClr val="16253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697480"/>
            <a:ext cx="1371600" cy="7772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6974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Нед. 5–6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27432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Партнёрство с Telegram-каналом (LOI)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2743200"/>
            <a:ext cx="210312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7432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🎯 ≥ 5 публикаций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8595360" cy="777240"/>
          </a:xfrm>
          <a:prstGeom prst="rect">
            <a:avLst/>
          </a:prstGeom>
          <a:solidFill>
            <a:srgbClr val="16253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566160"/>
            <a:ext cx="1371600" cy="7772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5661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Нед. 7–8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28800" y="36118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Запуск реферальной программы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3611880"/>
            <a:ext cx="210312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6118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🎯 Viral Coeff. &gt; 0.2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480560"/>
            <a:ext cx="8595360" cy="548640"/>
          </a:xfrm>
          <a:prstGeom prst="rect">
            <a:avLst/>
          </a:prstGeom>
          <a:solidFill>
            <a:srgbClr val="162535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166"/>
                </a:solidFill>
              </a:rPr>
              <a:t>Цель: за 8 недель получить 10 подтверждённых кейсов и показать инвесторам Retention + Unit-экономику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Стратегия роста и финансовый план — PredictRU</dc:title>
  <dc:subject>PptxGenJS Presentation</dc:subject>
  <dc:creator>PptxGenJS</dc:creator>
  <cp:lastModifiedBy>PptxGenJS</cp:lastModifiedBy>
  <cp:revision>1</cp:revision>
  <dcterms:created xsi:type="dcterms:W3CDTF">2026-05-12T10:44:55Z</dcterms:created>
  <dcterms:modified xsi:type="dcterms:W3CDTF">2026-05-12T10:44:55Z</dcterms:modified>
</cp:coreProperties>
</file>