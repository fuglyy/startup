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Open Sans" panose="020B0606030504020204" pitchFamily="34" charset="0"/>
      <p:regular r:id="rId13"/>
      <p:bold r:id="rId14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3285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2.sv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B5E888-8208-D99C-AA09-02B2636AA6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9773"/>
            <a:ext cx="9144000" cy="49839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686E2D-A9A5-EF31-8410-763BC540F4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7040" y="4853915"/>
            <a:ext cx="1386960" cy="2895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6119" y="503783"/>
            <a:ext cx="3189759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Ценность и сегмент</a:t>
            </a:r>
            <a:endParaRPr lang="en-US" sz="2500" dirty="0"/>
          </a:p>
        </p:txBody>
      </p:sp>
      <p:sp>
        <p:nvSpPr>
          <p:cNvPr id="4" name="Shape 1"/>
          <p:cNvSpPr/>
          <p:nvPr/>
        </p:nvSpPr>
        <p:spPr>
          <a:xfrm>
            <a:off x="404291" y="1074688"/>
            <a:ext cx="3583899" cy="3565029"/>
          </a:xfrm>
          <a:prstGeom prst="roundRect">
            <a:avLst>
              <a:gd name="adj" fmla="val 801"/>
            </a:avLst>
          </a:prstGeom>
          <a:solidFill>
            <a:srgbClr val="101014"/>
          </a:solidFill>
          <a:ln/>
        </p:spPr>
      </p:sp>
      <p:sp>
        <p:nvSpPr>
          <p:cNvPr id="5" name="Text 2"/>
          <p:cNvSpPr/>
          <p:nvPr/>
        </p:nvSpPr>
        <p:spPr>
          <a:xfrm>
            <a:off x="531837" y="1242517"/>
            <a:ext cx="2356788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Продукт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31835" y="1651069"/>
            <a:ext cx="3154041" cy="1357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Аналитическая платформа краудсорсинговых прогнозов </a:t>
            </a: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Wellex</a:t>
            </a: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пользователи зарабатывают на точности своих прогнозов о неспортивных событиях: политика, экономика, общество, шоу-бизнес.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96119" y="3234035"/>
            <a:ext cx="3154041" cy="581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Платформа также предоставляет доступ к агрегированной статистике ожиданий рынка.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31064" y="1189509"/>
            <a:ext cx="2958836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0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Целевой сегмент (B2C)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931063" y="1517972"/>
            <a:ext cx="3681099" cy="791691"/>
          </a:xfrm>
          <a:prstGeom prst="roundRect">
            <a:avLst>
              <a:gd name="adj" fmla="val 8662"/>
            </a:avLst>
          </a:prstGeom>
          <a:solidFill>
            <a:srgbClr val="F3F3F7"/>
          </a:solidFill>
          <a:ln w="14288">
            <a:solidFill>
              <a:srgbClr val="C6C6D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16777" y="1517972"/>
            <a:ext cx="95374" cy="791691"/>
          </a:xfrm>
          <a:prstGeom prst="roundRect">
            <a:avLst>
              <a:gd name="adj" fmla="val 33488"/>
            </a:avLst>
          </a:prstGeom>
          <a:solidFill>
            <a:srgbClr val="101014"/>
          </a:solidFill>
          <a:ln/>
        </p:spPr>
      </p:sp>
      <p:sp>
        <p:nvSpPr>
          <p:cNvPr id="11" name="Text 8"/>
          <p:cNvSpPr/>
          <p:nvPr/>
        </p:nvSpPr>
        <p:spPr>
          <a:xfrm>
            <a:off x="5115759" y="1659806"/>
            <a:ext cx="2661537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0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Возраст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115760" y="1973907"/>
            <a:ext cx="3136174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18–45 лет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931063" y="2424485"/>
            <a:ext cx="3681099" cy="985614"/>
          </a:xfrm>
          <a:prstGeom prst="roundRect">
            <a:avLst>
              <a:gd name="adj" fmla="val 6958"/>
            </a:avLst>
          </a:prstGeom>
          <a:solidFill>
            <a:srgbClr val="F3F3F7"/>
          </a:solidFill>
          <a:ln w="14288">
            <a:solidFill>
              <a:srgbClr val="C6C6D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16777" y="2424485"/>
            <a:ext cx="95374" cy="985614"/>
          </a:xfrm>
          <a:prstGeom prst="roundRect">
            <a:avLst>
              <a:gd name="adj" fmla="val 33488"/>
            </a:avLst>
          </a:prstGeom>
          <a:solidFill>
            <a:srgbClr val="101014"/>
          </a:solidFill>
          <a:ln/>
        </p:spPr>
      </p:sp>
      <p:sp>
        <p:nvSpPr>
          <p:cNvPr id="15" name="Text 12"/>
          <p:cNvSpPr/>
          <p:nvPr/>
        </p:nvSpPr>
        <p:spPr>
          <a:xfrm>
            <a:off x="5115759" y="2566318"/>
            <a:ext cx="2661537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0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Интересы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115760" y="2880420"/>
            <a:ext cx="3136174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Аналитика, новости, инвестиции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931063" y="3524920"/>
            <a:ext cx="3681099" cy="985614"/>
          </a:xfrm>
          <a:prstGeom prst="roundRect">
            <a:avLst>
              <a:gd name="adj" fmla="val 6958"/>
            </a:avLst>
          </a:prstGeom>
          <a:solidFill>
            <a:srgbClr val="F3F3F7"/>
          </a:solidFill>
          <a:ln w="14288">
            <a:solidFill>
              <a:srgbClr val="C6C6D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916777" y="3524920"/>
            <a:ext cx="95374" cy="985614"/>
          </a:xfrm>
          <a:prstGeom prst="roundRect">
            <a:avLst>
              <a:gd name="adj" fmla="val 33488"/>
            </a:avLst>
          </a:prstGeom>
          <a:solidFill>
            <a:srgbClr val="101014"/>
          </a:solidFill>
          <a:ln/>
        </p:spPr>
      </p:sp>
      <p:sp>
        <p:nvSpPr>
          <p:cNvPr id="19" name="Text 16"/>
          <p:cNvSpPr/>
          <p:nvPr/>
        </p:nvSpPr>
        <p:spPr>
          <a:xfrm>
            <a:off x="5115759" y="3666753"/>
            <a:ext cx="2661537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0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Мотивация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5115760" y="3980855"/>
            <a:ext cx="3136174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Монетизировать интуицию и экспертизу</a:t>
            </a:r>
            <a:endParaRPr lang="en-US" sz="14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90025CA-C7BF-84A5-C67B-6334B71D0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7040" y="4853915"/>
            <a:ext cx="1386960" cy="2895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05941"/>
            <a:ext cx="3737967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Гипотезы монетизации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96119" y="1134294"/>
            <a:ext cx="2640657" cy="2672432"/>
          </a:xfrm>
          <a:prstGeom prst="roundRect">
            <a:avLst>
              <a:gd name="adj" fmla="val 725"/>
            </a:avLst>
          </a:prstGeom>
          <a:solidFill>
            <a:srgbClr val="F3F3F7"/>
          </a:solidFill>
          <a:ln w="14288">
            <a:solidFill>
              <a:srgbClr val="C6C6D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0406" y="1148581"/>
            <a:ext cx="2612082" cy="382712"/>
          </a:xfrm>
          <a:prstGeom prst="roundRect">
            <a:avLst>
              <a:gd name="adj" fmla="val 521"/>
            </a:avLst>
          </a:prstGeom>
          <a:solidFill>
            <a:srgbClr val="E0E0E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20751" y="1244203"/>
            <a:ext cx="191319" cy="1913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7952" y="1646113"/>
            <a:ext cx="2356991" cy="39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Комиссия с транзакции </a:t>
            </a:r>
            <a:r>
              <a:rPr lang="en-US" sz="12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(приоритетная)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37952" y="2113508"/>
            <a:ext cx="2356991" cy="1357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Участник платит </a:t>
            </a:r>
            <a:r>
              <a:rPr lang="en-US" sz="10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5–10%</a:t>
            </a: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от суммы прогноза (средняя эффективная комиссия — 8%). Сбор покрывает организацию рынка, проверку исхода и безопасность расчётов. Ниже скрытой маржи букмекеров — прозрачно и справедливо.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51597" y="1134294"/>
            <a:ext cx="2640732" cy="2672432"/>
          </a:xfrm>
          <a:prstGeom prst="roundRect">
            <a:avLst>
              <a:gd name="adj" fmla="val 725"/>
            </a:avLst>
          </a:prstGeom>
          <a:solidFill>
            <a:srgbClr val="F3F3F7"/>
          </a:solidFill>
          <a:ln w="14288">
            <a:solidFill>
              <a:srgbClr val="C6C6D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65884" y="1148581"/>
            <a:ext cx="2612157" cy="382712"/>
          </a:xfrm>
          <a:prstGeom prst="roundRect">
            <a:avLst>
              <a:gd name="adj" fmla="val 521"/>
            </a:avLst>
          </a:prstGeom>
          <a:solidFill>
            <a:srgbClr val="E0E0E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76304" y="1244203"/>
            <a:ext cx="191319" cy="1913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93430" y="1646113"/>
            <a:ext cx="2357065" cy="39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Freemium + подписка на премиум-аналитику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3393430" y="2113508"/>
            <a:ext cx="2357065" cy="1551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Базовая платформа бесплатно. Расширенные инструменты (исторические данные, продвинутая статистика, API) — по подписке </a:t>
            </a:r>
            <a:r>
              <a:rPr lang="en-US" sz="10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500–2 000 ₽/мес</a:t>
            </a: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Целевая аудитория — активные пользователи, стремящиеся улучшить точность прогнозов.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007150" y="1134294"/>
            <a:ext cx="2640732" cy="2672432"/>
          </a:xfrm>
          <a:prstGeom prst="roundRect">
            <a:avLst>
              <a:gd name="adj" fmla="val 725"/>
            </a:avLst>
          </a:prstGeom>
          <a:solidFill>
            <a:srgbClr val="F3F3F7"/>
          </a:solidFill>
          <a:ln w="14288">
            <a:solidFill>
              <a:srgbClr val="C6C6D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021437" y="1148581"/>
            <a:ext cx="2612157" cy="382712"/>
          </a:xfrm>
          <a:prstGeom prst="roundRect">
            <a:avLst>
              <a:gd name="adj" fmla="val 521"/>
            </a:avLst>
          </a:prstGeom>
          <a:solidFill>
            <a:srgbClr val="E0E0EC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1856" y="1244203"/>
            <a:ext cx="191319" cy="19131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48983" y="1646113"/>
            <a:ext cx="2276549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Корпоративные рынки (B2B)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148983" y="1914227"/>
            <a:ext cx="2357065" cy="1357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Компании платят за создание и обслуживание рынков прогнозов, связанных с их бизнесом. Единица оплаты: фиксированный платёж за событие или абонентская плата — инструмент крауд-аналитики для внутренних нужд.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96119" y="3935909"/>
            <a:ext cx="8151763" cy="701576"/>
          </a:xfrm>
          <a:prstGeom prst="roundRect">
            <a:avLst>
              <a:gd name="adj" fmla="val 2728"/>
            </a:avLst>
          </a:prstGeom>
          <a:solidFill>
            <a:srgbClr val="B6FCB8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664" y="4126557"/>
            <a:ext cx="159469" cy="12754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0679" y="4082579"/>
            <a:ext cx="7609656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Выбрана </a:t>
            </a:r>
            <a:r>
              <a:rPr lang="en-US" sz="1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Гипотеза 1</a:t>
            </a: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как наиболее понятная для ранней стадии, соответствующая ожиданиям пользователей и легко проверяемая в sales test.</a:t>
            </a:r>
            <a:endParaRPr lang="en-US" sz="10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D9EE8BB-4C95-B728-D25A-8194EA8B10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2052" y="4813267"/>
            <a:ext cx="1386960" cy="2895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82575"/>
            <a:ext cx="4722763" cy="841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Тарифы (уровни участия) и оффер</a:t>
            </a:r>
            <a:endParaRPr lang="en-US" sz="2650" dirty="0"/>
          </a:p>
        </p:txBody>
      </p:sp>
      <p:sp>
        <p:nvSpPr>
          <p:cNvPr id="4" name="Shape 1"/>
          <p:cNvSpPr/>
          <p:nvPr/>
        </p:nvSpPr>
        <p:spPr>
          <a:xfrm>
            <a:off x="3925119" y="1516261"/>
            <a:ext cx="4722763" cy="3144589"/>
          </a:xfrm>
          <a:prstGeom prst="roundRect">
            <a:avLst>
              <a:gd name="adj" fmla="val 642"/>
            </a:avLst>
          </a:prstGeom>
          <a:solidFill>
            <a:srgbClr val="E0E0EC"/>
          </a:solidFill>
          <a:ln/>
        </p:spPr>
      </p:sp>
      <p:sp>
        <p:nvSpPr>
          <p:cNvPr id="5" name="Shape 2"/>
          <p:cNvSpPr/>
          <p:nvPr/>
        </p:nvSpPr>
        <p:spPr>
          <a:xfrm>
            <a:off x="3925119" y="1516261"/>
            <a:ext cx="2361381" cy="1572295"/>
          </a:xfrm>
          <a:prstGeom prst="roundRect">
            <a:avLst>
              <a:gd name="adj" fmla="val 1285"/>
            </a:avLst>
          </a:prstGeom>
          <a:solidFill>
            <a:srgbClr val="E0E0EC"/>
          </a:solidFill>
          <a:ln/>
        </p:spPr>
      </p:sp>
      <p:sp>
        <p:nvSpPr>
          <p:cNvPr id="6" name="Text 3"/>
          <p:cNvSpPr/>
          <p:nvPr/>
        </p:nvSpPr>
        <p:spPr>
          <a:xfrm>
            <a:off x="4059734" y="1650876"/>
            <a:ext cx="1683469" cy="219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🆓</a:t>
            </a:r>
            <a:r>
              <a:rPr lang="en-US" sz="13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Базовый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059734" y="1947490"/>
            <a:ext cx="2092151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Комиссия </a:t>
            </a:r>
            <a:r>
              <a:rPr lang="en-US" sz="10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10%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059734" y="2234282"/>
            <a:ext cx="2092151" cy="719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Доступ к открытым рынкам</a:t>
            </a:r>
            <a:endParaRPr lang="en-US" sz="105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Базовая статистика</a:t>
            </a:r>
            <a:endParaRPr lang="en-US" sz="105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Без верификации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86500" y="1516261"/>
            <a:ext cx="2361381" cy="1572295"/>
          </a:xfrm>
          <a:prstGeom prst="rect">
            <a:avLst/>
          </a:prstGeom>
          <a:solidFill>
            <a:srgbClr val="E0E0EC"/>
          </a:solidFill>
          <a:ln/>
        </p:spPr>
      </p:sp>
      <p:sp>
        <p:nvSpPr>
          <p:cNvPr id="10" name="Shape 7"/>
          <p:cNvSpPr/>
          <p:nvPr/>
        </p:nvSpPr>
        <p:spPr>
          <a:xfrm>
            <a:off x="6286500" y="1516261"/>
            <a:ext cx="19050" cy="1572295"/>
          </a:xfrm>
          <a:prstGeom prst="roundRect">
            <a:avLst>
              <a:gd name="adj" fmla="val 106046"/>
            </a:avLst>
          </a:prstGeom>
          <a:solidFill>
            <a:srgbClr val="C6C6D2"/>
          </a:solidFill>
          <a:ln/>
        </p:spPr>
      </p:sp>
      <p:sp>
        <p:nvSpPr>
          <p:cNvPr id="11" name="Text 8"/>
          <p:cNvSpPr/>
          <p:nvPr/>
        </p:nvSpPr>
        <p:spPr>
          <a:xfrm>
            <a:off x="6421115" y="1650876"/>
            <a:ext cx="1683469" cy="219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⭐</a:t>
            </a:r>
            <a:r>
              <a:rPr lang="en-US" sz="13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Pro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21115" y="1947490"/>
            <a:ext cx="2092151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Комиссия </a:t>
            </a:r>
            <a:r>
              <a:rPr lang="en-US" sz="10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7%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421115" y="2234282"/>
            <a:ext cx="2092151" cy="719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Объём сделок &gt;50 000 ₽/мес</a:t>
            </a:r>
            <a:endParaRPr lang="en-US" sz="105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Расширенная аналитика</a:t>
            </a:r>
            <a:endParaRPr lang="en-US" sz="105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Приоритетная поддержка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925119" y="3088556"/>
            <a:ext cx="4722763" cy="1572295"/>
          </a:xfrm>
          <a:prstGeom prst="rect">
            <a:avLst/>
          </a:prstGeom>
          <a:solidFill>
            <a:srgbClr val="E0E0EC"/>
          </a:solidFill>
          <a:ln/>
        </p:spPr>
      </p:sp>
      <p:sp>
        <p:nvSpPr>
          <p:cNvPr id="15" name="Shape 12"/>
          <p:cNvSpPr/>
          <p:nvPr/>
        </p:nvSpPr>
        <p:spPr>
          <a:xfrm>
            <a:off x="3925119" y="3088556"/>
            <a:ext cx="4722763" cy="19050"/>
          </a:xfrm>
          <a:prstGeom prst="roundRect">
            <a:avLst>
              <a:gd name="adj" fmla="val 106046"/>
            </a:avLst>
          </a:prstGeom>
          <a:solidFill>
            <a:srgbClr val="C6C6D2"/>
          </a:solidFill>
          <a:ln/>
        </p:spPr>
      </p:sp>
      <p:sp>
        <p:nvSpPr>
          <p:cNvPr id="16" name="Text 13"/>
          <p:cNvSpPr/>
          <p:nvPr/>
        </p:nvSpPr>
        <p:spPr>
          <a:xfrm>
            <a:off x="4059734" y="3223171"/>
            <a:ext cx="1683469" cy="219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💎</a:t>
            </a:r>
            <a:r>
              <a:rPr lang="en-US" sz="13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Expert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059734" y="3519785"/>
            <a:ext cx="4453533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Комиссия </a:t>
            </a:r>
            <a:r>
              <a:rPr lang="en-US" sz="10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5%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059734" y="3806577"/>
            <a:ext cx="4453533" cy="719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Объём &gt;200 000 ₽/мес</a:t>
            </a:r>
            <a:endParaRPr lang="en-US" sz="105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Верификация аккаунта</a:t>
            </a:r>
            <a:endParaRPr lang="en-US" sz="105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API-доступ и полная статистика</a:t>
            </a:r>
            <a:endParaRPr lang="en-US" sz="10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F5EB7AB-B25C-C210-DEBE-0B15EE264F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7040" y="4853915"/>
            <a:ext cx="1386960" cy="2895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9901"/>
            <a:ext cx="4063678" cy="287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Обоснование цены и план Sales Test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96119" y="837530"/>
            <a:ext cx="1453976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Почему цена справедлива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0647" y="1053405"/>
            <a:ext cx="138187" cy="1381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5561" y="1048866"/>
            <a:ext cx="3664074" cy="243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Пользователь зарабатывает на своих знаниях, платя лишь небольшую комиссию за инфраструктуру.</a:t>
            </a:r>
            <a:endParaRPr lang="en-US" sz="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0647" y="1454125"/>
            <a:ext cx="138187" cy="13818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95561" y="1449586"/>
            <a:ext cx="3664074" cy="243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Итоговая комиссия прозрачна и в среднем </a:t>
            </a:r>
            <a:r>
              <a:rPr lang="en-US" sz="7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ниже</a:t>
            </a:r>
            <a:r>
              <a:rPr lang="en-US" sz="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чем скрытые спреды в альтернативных сервисах.</a:t>
            </a:r>
            <a:endParaRPr lang="en-US" sz="7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0647" y="1854845"/>
            <a:ext cx="138187" cy="13818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95561" y="1850306"/>
            <a:ext cx="3664074" cy="243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Тарифная сетка стимулирует активность и рост объёмов, вознаграждая лояльность пониженной комиссией.</a:t>
            </a:r>
            <a:endParaRPr lang="en-US" sz="700" dirty="0"/>
          </a:p>
        </p:txBody>
      </p:sp>
      <p:sp>
        <p:nvSpPr>
          <p:cNvPr id="10" name="Text 5"/>
          <p:cNvSpPr/>
          <p:nvPr/>
        </p:nvSpPr>
        <p:spPr>
          <a:xfrm>
            <a:off x="4689128" y="837530"/>
            <a:ext cx="162490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Портрет лидов для Sales Test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4689128" y="1041350"/>
            <a:ext cx="3963516" cy="243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Изначально </a:t>
            </a:r>
            <a:r>
              <a:rPr lang="en-US" sz="7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30 контактов</a:t>
            </a:r>
            <a:r>
              <a:rPr lang="en-US" sz="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физические лица из личной сети и найденные через целевые каналы.</a:t>
            </a:r>
            <a:endParaRPr lang="en-US" sz="700" dirty="0"/>
          </a:p>
        </p:txBody>
      </p:sp>
      <p:sp>
        <p:nvSpPr>
          <p:cNvPr id="12" name="Text 7"/>
          <p:cNvSpPr/>
          <p:nvPr/>
        </p:nvSpPr>
        <p:spPr>
          <a:xfrm>
            <a:off x="4689128" y="1338411"/>
            <a:ext cx="3963516" cy="64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Интересы: аналитика, политические и экономические новости, инвестиции</a:t>
            </a:r>
            <a:endParaRPr lang="en-US" sz="700" dirty="0"/>
          </a:p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Активные участники Telegram-каналов и VK-сообществ по темам прогнозов и инсайдов</a:t>
            </a:r>
            <a:endParaRPr lang="en-US" sz="700" dirty="0"/>
          </a:p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Источники: тематические Telegram-чаты, группы ВКонтакте, приглашения через друзей</a:t>
            </a:r>
            <a:endParaRPr lang="en-US" sz="7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2711" y="2265983"/>
            <a:ext cx="5298579" cy="228867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187095" y="3879524"/>
            <a:ext cx="786740" cy="143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Реакция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3187095" y="4063571"/>
            <a:ext cx="786740" cy="283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Переход на лендинг для деталей</a:t>
            </a:r>
            <a:endParaRPr lang="en-US" sz="700" dirty="0"/>
          </a:p>
        </p:txBody>
      </p:sp>
      <p:sp>
        <p:nvSpPr>
          <p:cNvPr id="16" name="Text 10"/>
          <p:cNvSpPr/>
          <p:nvPr/>
        </p:nvSpPr>
        <p:spPr>
          <a:xfrm>
            <a:off x="5207241" y="3830805"/>
            <a:ext cx="786740" cy="286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Тестовый рынок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5207241" y="4158142"/>
            <a:ext cx="786740" cy="189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Участие + бонус 100₽</a:t>
            </a:r>
            <a:endParaRPr lang="en-US" sz="700" dirty="0"/>
          </a:p>
        </p:txBody>
      </p:sp>
      <p:sp>
        <p:nvSpPr>
          <p:cNvPr id="18" name="Text 12"/>
          <p:cNvSpPr/>
          <p:nvPr/>
        </p:nvSpPr>
        <p:spPr>
          <a:xfrm>
            <a:off x="2179530" y="2472499"/>
            <a:ext cx="786740" cy="286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Первый контакт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2179530" y="2799836"/>
            <a:ext cx="786740" cy="283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Короткое приветствие и предложение</a:t>
            </a:r>
            <a:endParaRPr lang="en-US" sz="700" dirty="0"/>
          </a:p>
        </p:txBody>
      </p:sp>
      <p:sp>
        <p:nvSpPr>
          <p:cNvPr id="20" name="Text 14"/>
          <p:cNvSpPr/>
          <p:nvPr/>
        </p:nvSpPr>
        <p:spPr>
          <a:xfrm>
            <a:off x="6184795" y="2472499"/>
            <a:ext cx="786740" cy="143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Опрос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6184795" y="2656546"/>
            <a:ext cx="786740" cy="189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Готовность внести депозит</a:t>
            </a:r>
            <a:endParaRPr lang="en-US" sz="700" dirty="0"/>
          </a:p>
        </p:txBody>
      </p:sp>
      <p:sp>
        <p:nvSpPr>
          <p:cNvPr id="22" name="Text 16"/>
          <p:cNvSpPr/>
          <p:nvPr/>
        </p:nvSpPr>
        <p:spPr>
          <a:xfrm>
            <a:off x="4209706" y="2472499"/>
            <a:ext cx="786740" cy="143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Регистрация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4209706" y="2656546"/>
            <a:ext cx="786740" cy="189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Запись на закрытую бету</a:t>
            </a:r>
            <a:endParaRPr lang="en-US" sz="700" dirty="0"/>
          </a:p>
        </p:txBody>
      </p:sp>
      <p:sp>
        <p:nvSpPr>
          <p:cNvPr id="24" name="Text 18"/>
          <p:cNvSpPr/>
          <p:nvPr/>
        </p:nvSpPr>
        <p:spPr>
          <a:xfrm>
            <a:off x="496119" y="4622006"/>
            <a:ext cx="8151763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Каждый этап воронки последовательно проверяет готовность аудитории к реальному участию в платформе.</a:t>
            </a:r>
            <a:endParaRPr lang="en-US" sz="7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0D6012E-66F5-87A0-FCBD-9EE547C6D9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7040" y="4853915"/>
            <a:ext cx="1386960" cy="2895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b="10394"/>
          <a:stretch>
            <a:fillRect/>
          </a:stretch>
        </p:blipFill>
        <p:spPr>
          <a:xfrm>
            <a:off x="5601433" y="0"/>
            <a:ext cx="3542567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67246"/>
            <a:ext cx="4722763" cy="575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Скрипт первого контакта и метрики успеха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96119" y="1192857"/>
            <a:ext cx="1445791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Скрипт (Telegram / Email)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34305" y="1404193"/>
            <a:ext cx="2110829" cy="1094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Привет, [Имя]! Мы запускаем аналитическую платформу для прогнозов на политику и события — «Прогнозус». Сейчас приглашаем первых тестировщиков. Даём бесплатно </a:t>
            </a:r>
            <a:r>
              <a:rPr lang="en-US" sz="7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100₽</a:t>
            </a:r>
            <a:r>
              <a:rPr lang="en-US" sz="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на пробный рынок «Кто станет следующим мэром города N?» Всё прозрачно: вы делаете прогноз, если правы — забираете выигрыш. Наша комиссия всего 5–10%. Интересно поучаствовать?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496119" y="1404193"/>
            <a:ext cx="9525" cy="1094333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7" name="Text 4"/>
          <p:cNvSpPr/>
          <p:nvPr/>
        </p:nvSpPr>
        <p:spPr>
          <a:xfrm>
            <a:off x="2974628" y="1192857"/>
            <a:ext cx="115185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Метрики успеха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974628" y="1404193"/>
            <a:ext cx="2249016" cy="509662"/>
          </a:xfrm>
          <a:prstGeom prst="roundRect">
            <a:avLst>
              <a:gd name="adj" fmla="val 2712"/>
            </a:avLst>
          </a:prstGeom>
          <a:solidFill>
            <a:srgbClr val="E0E0EC"/>
          </a:solidFill>
          <a:ln/>
        </p:spPr>
      </p:sp>
      <p:sp>
        <p:nvSpPr>
          <p:cNvPr id="9" name="Text 6"/>
          <p:cNvSpPr/>
          <p:nvPr/>
        </p:nvSpPr>
        <p:spPr>
          <a:xfrm>
            <a:off x="3066752" y="1496318"/>
            <a:ext cx="115185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Reply Rate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066752" y="1700138"/>
            <a:ext cx="2064767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≥ 20% (6 из 30)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2974628" y="1973684"/>
            <a:ext cx="2249016" cy="509662"/>
          </a:xfrm>
          <a:prstGeom prst="roundRect">
            <a:avLst>
              <a:gd name="adj" fmla="val 2712"/>
            </a:avLst>
          </a:prstGeom>
          <a:solidFill>
            <a:srgbClr val="E0E0EC"/>
          </a:solidFill>
          <a:ln/>
        </p:spPr>
      </p:sp>
      <p:sp>
        <p:nvSpPr>
          <p:cNvPr id="12" name="Text 9"/>
          <p:cNvSpPr/>
          <p:nvPr/>
        </p:nvSpPr>
        <p:spPr>
          <a:xfrm>
            <a:off x="3066752" y="2065809"/>
            <a:ext cx="1486421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Конверсия в регистрацию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066752" y="2269629"/>
            <a:ext cx="2064767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≥ 40% от ответивших (2–3 чел.)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2974628" y="2543175"/>
            <a:ext cx="2249016" cy="509662"/>
          </a:xfrm>
          <a:prstGeom prst="roundRect">
            <a:avLst>
              <a:gd name="adj" fmla="val 2712"/>
            </a:avLst>
          </a:prstGeom>
          <a:solidFill>
            <a:srgbClr val="E0E0EC"/>
          </a:solidFill>
          <a:ln/>
        </p:spPr>
      </p:sp>
      <p:sp>
        <p:nvSpPr>
          <p:cNvPr id="15" name="Text 12"/>
          <p:cNvSpPr/>
          <p:nvPr/>
        </p:nvSpPr>
        <p:spPr>
          <a:xfrm>
            <a:off x="3066752" y="2635300"/>
            <a:ext cx="115185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Участие в пилоте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066752" y="2839120"/>
            <a:ext cx="2064767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≥ 30% от зарегистрированных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2974628" y="3112666"/>
            <a:ext cx="2249016" cy="509662"/>
          </a:xfrm>
          <a:prstGeom prst="roundRect">
            <a:avLst>
              <a:gd name="adj" fmla="val 2712"/>
            </a:avLst>
          </a:prstGeom>
          <a:solidFill>
            <a:srgbClr val="E0E0EC"/>
          </a:solidFill>
          <a:ln/>
        </p:spPr>
      </p:sp>
      <p:sp>
        <p:nvSpPr>
          <p:cNvPr id="18" name="Text 15"/>
          <p:cNvSpPr/>
          <p:nvPr/>
        </p:nvSpPr>
        <p:spPr>
          <a:xfrm>
            <a:off x="3066752" y="3204790"/>
            <a:ext cx="1292572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Готовность к депозиту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066752" y="3408611"/>
            <a:ext cx="2064767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≥ 3 положительных ответа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2974628" y="3689672"/>
            <a:ext cx="2249016" cy="425946"/>
          </a:xfrm>
          <a:prstGeom prst="roundRect">
            <a:avLst>
              <a:gd name="adj" fmla="val 3245"/>
            </a:avLst>
          </a:prstGeom>
          <a:solidFill>
            <a:srgbClr val="B6FCB8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6752" y="3819376"/>
            <a:ext cx="115119" cy="92125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273996" y="3772495"/>
            <a:ext cx="1857524" cy="243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Успех:</a:t>
            </a:r>
            <a:r>
              <a:rPr lang="en-US" sz="7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≥10 регистраций, ≥5 участий в пилоте, ≥3 готовы пополнить баланс.</a:t>
            </a:r>
            <a:endParaRPr lang="en-US" sz="700" dirty="0"/>
          </a:p>
        </p:txBody>
      </p:sp>
      <p:sp>
        <p:nvSpPr>
          <p:cNvPr id="23" name="Shape 19"/>
          <p:cNvSpPr/>
          <p:nvPr/>
        </p:nvSpPr>
        <p:spPr>
          <a:xfrm>
            <a:off x="2974628" y="4182963"/>
            <a:ext cx="2249016" cy="425946"/>
          </a:xfrm>
          <a:prstGeom prst="roundRect">
            <a:avLst>
              <a:gd name="adj" fmla="val 3245"/>
            </a:avLst>
          </a:prstGeom>
          <a:solidFill>
            <a:srgbClr val="FFB3B4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6752" y="4312667"/>
            <a:ext cx="115119" cy="92125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273996" y="4265786"/>
            <a:ext cx="1857524" cy="243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Провал:</a:t>
            </a:r>
            <a:r>
              <a:rPr lang="en-US" sz="7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&lt;5 регистраций или 0 готовых внести депозит.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88082"/>
            <a:ext cx="6560939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Финансовая модель (горизонт 12 месяцев)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96119" y="1173807"/>
            <a:ext cx="1744489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Ключевые допущения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81831" y="1487984"/>
            <a:ext cx="28575" cy="929804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5" name="Text 3"/>
          <p:cNvSpPr/>
          <p:nvPr/>
        </p:nvSpPr>
        <p:spPr>
          <a:xfrm>
            <a:off x="652239" y="1502271"/>
            <a:ext cx="15948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Средняя комиссия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52239" y="1816373"/>
            <a:ext cx="1732285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8% (средневзвешенная по тарифам)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3707" y="1487984"/>
            <a:ext cx="28575" cy="929804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8" name="Text 6"/>
          <p:cNvSpPr/>
          <p:nvPr/>
        </p:nvSpPr>
        <p:spPr>
          <a:xfrm>
            <a:off x="2684115" y="1502271"/>
            <a:ext cx="1732285" cy="39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Средний GMV на пользователя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684115" y="2015654"/>
            <a:ext cx="1732285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1 200 ₽/мес (рост +5% в квартал), 3 сделки в месяц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1831" y="2618854"/>
            <a:ext cx="28575" cy="730523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11" name="Text 9"/>
          <p:cNvSpPr/>
          <p:nvPr/>
        </p:nvSpPr>
        <p:spPr>
          <a:xfrm>
            <a:off x="652239" y="2633142"/>
            <a:ext cx="15948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Рост лидов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2239" y="2947243"/>
            <a:ext cx="1732285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15% месяц к месяцу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13707" y="2618854"/>
            <a:ext cx="28575" cy="730523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14" name="Text 12"/>
          <p:cNvSpPr/>
          <p:nvPr/>
        </p:nvSpPr>
        <p:spPr>
          <a:xfrm>
            <a:off x="2684115" y="2633142"/>
            <a:ext cx="15948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Воронка конверсий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684115" y="2947243"/>
            <a:ext cx="1732285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Ответ 20% → регистрация 40% → платящие 50%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32362" y="1173807"/>
            <a:ext cx="2196778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Структура расходов в месяц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32362" y="1502271"/>
            <a:ext cx="1902693" cy="1648495"/>
          </a:xfrm>
          <a:prstGeom prst="roundRect">
            <a:avLst>
              <a:gd name="adj" fmla="val 1161"/>
            </a:avLst>
          </a:prstGeom>
          <a:solidFill>
            <a:srgbClr val="E0E0EC"/>
          </a:solidFill>
          <a:ln/>
        </p:spPr>
      </p:sp>
      <p:sp>
        <p:nvSpPr>
          <p:cNvPr id="18" name="Shape 16"/>
          <p:cNvSpPr/>
          <p:nvPr/>
        </p:nvSpPr>
        <p:spPr>
          <a:xfrm>
            <a:off x="4859908" y="1629817"/>
            <a:ext cx="382712" cy="382712"/>
          </a:xfrm>
          <a:prstGeom prst="roundRect">
            <a:avLst>
              <a:gd name="adj" fmla="val 14931407"/>
            </a:avLst>
          </a:prstGeom>
          <a:solidFill>
            <a:srgbClr val="101014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5129" y="1735038"/>
            <a:ext cx="172194" cy="17219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859908" y="2127349"/>
            <a:ext cx="15948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COGS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859908" y="2441451"/>
            <a:ext cx="1647602" cy="581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30 000 ₽ фикс + 1% от оборота (эквайринг, проверка событий)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749876" y="1502271"/>
            <a:ext cx="1902768" cy="1648495"/>
          </a:xfrm>
          <a:prstGeom prst="roundRect">
            <a:avLst>
              <a:gd name="adj" fmla="val 1161"/>
            </a:avLst>
          </a:prstGeom>
          <a:solidFill>
            <a:srgbClr val="E0E0EC"/>
          </a:solidFill>
          <a:ln/>
        </p:spPr>
      </p:sp>
      <p:sp>
        <p:nvSpPr>
          <p:cNvPr id="23" name="Shape 20"/>
          <p:cNvSpPr/>
          <p:nvPr/>
        </p:nvSpPr>
        <p:spPr>
          <a:xfrm>
            <a:off x="6877422" y="1629817"/>
            <a:ext cx="382712" cy="382712"/>
          </a:xfrm>
          <a:prstGeom prst="roundRect">
            <a:avLst>
              <a:gd name="adj" fmla="val 14931407"/>
            </a:avLst>
          </a:prstGeom>
          <a:solidFill>
            <a:srgbClr val="101014"/>
          </a:solidFill>
          <a:ln/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2644" y="1735038"/>
            <a:ext cx="172194" cy="172194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877422" y="2127349"/>
            <a:ext cx="15948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Маркетинг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6877422" y="2441451"/>
            <a:ext cx="1647676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25 000 ₽/мес — таргет, органика, виральность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732362" y="3265587"/>
            <a:ext cx="3920282" cy="1260649"/>
          </a:xfrm>
          <a:prstGeom prst="roundRect">
            <a:avLst>
              <a:gd name="adj" fmla="val 1518"/>
            </a:avLst>
          </a:prstGeom>
          <a:solidFill>
            <a:srgbClr val="E0E0EC"/>
          </a:solidFill>
          <a:ln/>
        </p:spPr>
      </p:sp>
      <p:sp>
        <p:nvSpPr>
          <p:cNvPr id="28" name="Shape 24"/>
          <p:cNvSpPr/>
          <p:nvPr/>
        </p:nvSpPr>
        <p:spPr>
          <a:xfrm>
            <a:off x="4859908" y="3393132"/>
            <a:ext cx="382712" cy="382712"/>
          </a:xfrm>
          <a:prstGeom prst="roundRect">
            <a:avLst>
              <a:gd name="adj" fmla="val 14931407"/>
            </a:avLst>
          </a:prstGeom>
          <a:solidFill>
            <a:srgbClr val="101014"/>
          </a:solidFill>
          <a:ln/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5129" y="3498354"/>
            <a:ext cx="172194" cy="172194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4859908" y="3890665"/>
            <a:ext cx="1875979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Операционные расходы</a:t>
            </a:r>
            <a:endParaRPr lang="en-US" sz="1250" dirty="0"/>
          </a:p>
        </p:txBody>
      </p:sp>
      <p:sp>
        <p:nvSpPr>
          <p:cNvPr id="31" name="Text 26"/>
          <p:cNvSpPr/>
          <p:nvPr/>
        </p:nvSpPr>
        <p:spPr>
          <a:xfrm>
            <a:off x="4859908" y="4204767"/>
            <a:ext cx="3665190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45 000 ₽/мес — команда и серверы</a:t>
            </a:r>
            <a:endParaRPr lang="en-US" sz="10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BF40599-8C83-A129-0301-EF2E47648F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7040" y="4853915"/>
            <a:ext cx="1386960" cy="2895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4103"/>
            <a:ext cx="4272409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Таблица по месяцам (в рублях)</a:t>
            </a:r>
            <a:endParaRPr lang="en-US" sz="2200" dirty="0"/>
          </a:p>
        </p:txBody>
      </p:sp>
      <p:sp>
        <p:nvSpPr>
          <p:cNvPr id="94" name="Shape 92"/>
          <p:cNvSpPr/>
          <p:nvPr/>
        </p:nvSpPr>
        <p:spPr>
          <a:xfrm>
            <a:off x="496119" y="4115470"/>
            <a:ext cx="8151763" cy="583927"/>
          </a:xfrm>
          <a:prstGeom prst="roundRect">
            <a:avLst>
              <a:gd name="adj" fmla="val 2913"/>
            </a:avLst>
          </a:prstGeom>
          <a:solidFill>
            <a:srgbClr val="B6D6FC"/>
          </a:solidFill>
          <a:ln/>
        </p:spPr>
      </p:sp>
      <p:pic>
        <p:nvPicPr>
          <p:cNvPr id="9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26" y="4281785"/>
            <a:ext cx="141759" cy="113407"/>
          </a:xfrm>
          <a:prstGeom prst="rect">
            <a:avLst/>
          </a:prstGeom>
        </p:spPr>
      </p:pic>
      <p:sp>
        <p:nvSpPr>
          <p:cNvPr id="96" name="Text 93"/>
          <p:cNvSpPr/>
          <p:nvPr/>
        </p:nvSpPr>
        <p:spPr>
          <a:xfrm>
            <a:off x="864691" y="4234532"/>
            <a:ext cx="7669783" cy="326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 первый год модель планово убыточна за счёт инвестиций в рост. Выход на точку безубыточности прогнозируется после значительного масштабирования базы пользователей.</a:t>
            </a:r>
            <a:endParaRPr lang="en-US" sz="850" dirty="0"/>
          </a:p>
        </p:txBody>
      </p:sp>
      <p:pic>
        <p:nvPicPr>
          <p:cNvPr id="100" name="Picture 99">
            <a:extLst>
              <a:ext uri="{FF2B5EF4-FFF2-40B4-BE49-F238E27FC236}">
                <a16:creationId xmlns:a16="http://schemas.microsoft.com/office/drawing/2014/main" id="{20BA4943-EFC3-3BA8-73E2-DAABE29F3B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4667" y="917525"/>
            <a:ext cx="6059345" cy="2992993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529DC660-0040-33DC-87AC-7346A8BE40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7040" y="4853915"/>
            <a:ext cx="1386960" cy="2895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349" y="367978"/>
            <a:ext cx="3391198" cy="326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Анализ чувствительности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57349" y="843409"/>
            <a:ext cx="1783556" cy="163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6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Три сценария на 12-й месяц</a:t>
            </a:r>
            <a:endParaRPr lang="en-US" sz="1600" dirty="0"/>
          </a:p>
        </p:txBody>
      </p:sp>
      <p:sp>
        <p:nvSpPr>
          <p:cNvPr id="31" name="Shape 27"/>
          <p:cNvSpPr/>
          <p:nvPr/>
        </p:nvSpPr>
        <p:spPr>
          <a:xfrm>
            <a:off x="457349" y="4260131"/>
            <a:ext cx="8229302" cy="515317"/>
          </a:xfrm>
          <a:prstGeom prst="roundRect">
            <a:avLst>
              <a:gd name="adj" fmla="val 3043"/>
            </a:avLst>
          </a:prstGeom>
          <a:solidFill>
            <a:srgbClr val="FCF2B5"/>
          </a:solidFill>
          <a:ln/>
        </p:spPr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01" y="4408810"/>
            <a:ext cx="130671" cy="104552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797123" y="4363343"/>
            <a:ext cx="7784976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Вывод:</a:t>
            </a:r>
            <a:r>
              <a:rPr lang="en-US" sz="8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Наиболее критичный параметр — конверсия в платящего и средний чек. Даже при оптимистичном сценарии модель остаётся убыточной при малой базе. Это подчёркивает необходимость быстрого масштабирования пользователей и удержания высокого GMV.</a:t>
            </a:r>
            <a:endParaRPr lang="en-US" sz="8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AF73A934-56AB-CC9F-0F79-F25F546488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567" y="1459133"/>
            <a:ext cx="8138865" cy="2225233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309E5311-97A5-87CA-EC1A-3473B5485B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7040" y="4853915"/>
            <a:ext cx="1386960" cy="2895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506685"/>
            <a:ext cx="3748385" cy="287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Выводы и план следующего шага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3925119" y="1022672"/>
            <a:ext cx="4722763" cy="755005"/>
          </a:xfrm>
          <a:prstGeom prst="roundRect">
            <a:avLst>
              <a:gd name="adj" fmla="val 6056"/>
            </a:avLst>
          </a:prstGeom>
          <a:solidFill>
            <a:srgbClr val="F3F3F7"/>
          </a:solidFill>
          <a:ln w="9525">
            <a:solidFill>
              <a:srgbClr val="C6C6D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925119" y="1013147"/>
            <a:ext cx="4722763" cy="38100"/>
          </a:xfrm>
          <a:prstGeom prst="roundRect">
            <a:avLst>
              <a:gd name="adj" fmla="val 36279"/>
            </a:avLst>
          </a:prstGeom>
          <a:solidFill>
            <a:srgbClr val="101014"/>
          </a:solidFill>
          <a:ln/>
        </p:spPr>
      </p:sp>
      <p:sp>
        <p:nvSpPr>
          <p:cNvPr id="6" name="Shape 3"/>
          <p:cNvSpPr/>
          <p:nvPr/>
        </p:nvSpPr>
        <p:spPr>
          <a:xfrm>
            <a:off x="6148313" y="884486"/>
            <a:ext cx="276374" cy="276374"/>
          </a:xfrm>
          <a:prstGeom prst="roundRect">
            <a:avLst>
              <a:gd name="adj" fmla="val 206785"/>
            </a:avLst>
          </a:prstGeom>
          <a:solidFill>
            <a:srgbClr val="101014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1210" y="967383"/>
            <a:ext cx="110505" cy="11050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026768" y="1252984"/>
            <a:ext cx="1703636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Что выглядит жизнеспособно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026768" y="1432843"/>
            <a:ext cx="4519464" cy="243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Модель прозрачной комиссии понятна пользователям. Тарифная сетка стимулирует рост объёмов и вознаграждает лояльность пониженной комиссией.</a:t>
            </a:r>
            <a:endParaRPr lang="en-US" sz="700" dirty="0"/>
          </a:p>
        </p:txBody>
      </p:sp>
      <p:sp>
        <p:nvSpPr>
          <p:cNvPr id="10" name="Shape 6"/>
          <p:cNvSpPr/>
          <p:nvPr/>
        </p:nvSpPr>
        <p:spPr>
          <a:xfrm>
            <a:off x="3925119" y="1975693"/>
            <a:ext cx="4722763" cy="755005"/>
          </a:xfrm>
          <a:prstGeom prst="roundRect">
            <a:avLst>
              <a:gd name="adj" fmla="val 6056"/>
            </a:avLst>
          </a:prstGeom>
          <a:solidFill>
            <a:srgbClr val="F3F3F7"/>
          </a:solidFill>
          <a:ln w="9525">
            <a:solidFill>
              <a:srgbClr val="C6C6D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925119" y="1966168"/>
            <a:ext cx="4722763" cy="38100"/>
          </a:xfrm>
          <a:prstGeom prst="roundRect">
            <a:avLst>
              <a:gd name="adj" fmla="val 36279"/>
            </a:avLst>
          </a:prstGeom>
          <a:solidFill>
            <a:srgbClr val="101014"/>
          </a:solidFill>
          <a:ln/>
        </p:spPr>
      </p:sp>
      <p:sp>
        <p:nvSpPr>
          <p:cNvPr id="12" name="Shape 8"/>
          <p:cNvSpPr/>
          <p:nvPr/>
        </p:nvSpPr>
        <p:spPr>
          <a:xfrm>
            <a:off x="6148313" y="1837506"/>
            <a:ext cx="276374" cy="276374"/>
          </a:xfrm>
          <a:prstGeom prst="roundRect">
            <a:avLst>
              <a:gd name="adj" fmla="val 206785"/>
            </a:avLst>
          </a:prstGeom>
          <a:solidFill>
            <a:srgbClr val="101014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31210" y="1920404"/>
            <a:ext cx="110505" cy="11050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026768" y="2206005"/>
            <a:ext cx="1836316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Самые рискованные допущения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4026768" y="2385864"/>
            <a:ext cx="4519464" cy="243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Высокая конверсия в платящих, достаточный средний чек на старте, а также юридическая неопределённость (на учебном проекте принимаем как решённое).</a:t>
            </a:r>
            <a:endParaRPr lang="en-US" sz="700" dirty="0"/>
          </a:p>
        </p:txBody>
      </p:sp>
      <p:sp>
        <p:nvSpPr>
          <p:cNvPr id="16" name="Shape 11"/>
          <p:cNvSpPr/>
          <p:nvPr/>
        </p:nvSpPr>
        <p:spPr>
          <a:xfrm>
            <a:off x="3925119" y="2928714"/>
            <a:ext cx="4722763" cy="755005"/>
          </a:xfrm>
          <a:prstGeom prst="roundRect">
            <a:avLst>
              <a:gd name="adj" fmla="val 6056"/>
            </a:avLst>
          </a:prstGeom>
          <a:solidFill>
            <a:srgbClr val="F3F3F7"/>
          </a:solidFill>
          <a:ln w="9525">
            <a:solidFill>
              <a:srgbClr val="C6C6D2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3925119" y="2919189"/>
            <a:ext cx="4722763" cy="38100"/>
          </a:xfrm>
          <a:prstGeom prst="roundRect">
            <a:avLst>
              <a:gd name="adj" fmla="val 36279"/>
            </a:avLst>
          </a:prstGeom>
          <a:solidFill>
            <a:srgbClr val="101014"/>
          </a:solidFill>
          <a:ln/>
        </p:spPr>
      </p:sp>
      <p:sp>
        <p:nvSpPr>
          <p:cNvPr id="18" name="Shape 13"/>
          <p:cNvSpPr/>
          <p:nvPr/>
        </p:nvSpPr>
        <p:spPr>
          <a:xfrm>
            <a:off x="6148313" y="2790527"/>
            <a:ext cx="276374" cy="276374"/>
          </a:xfrm>
          <a:prstGeom prst="roundRect">
            <a:avLst>
              <a:gd name="adj" fmla="val 206785"/>
            </a:avLst>
          </a:prstGeom>
          <a:solidFill>
            <a:srgbClr val="101014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31210" y="2873425"/>
            <a:ext cx="110505" cy="11050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026768" y="3159026"/>
            <a:ext cx="115185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Sales test проверит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4026768" y="3338885"/>
            <a:ext cx="4519464" cy="243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Действительно ли люди готовы регистрироваться и вносить депозит после объяснения механики. Какова реалистичная конверсия в первое платёжное действие.</a:t>
            </a:r>
            <a:endParaRPr lang="en-US" sz="700" dirty="0"/>
          </a:p>
        </p:txBody>
      </p:sp>
      <p:sp>
        <p:nvSpPr>
          <p:cNvPr id="22" name="Shape 16"/>
          <p:cNvSpPr/>
          <p:nvPr/>
        </p:nvSpPr>
        <p:spPr>
          <a:xfrm>
            <a:off x="3925119" y="3881735"/>
            <a:ext cx="4722763" cy="755005"/>
          </a:xfrm>
          <a:prstGeom prst="roundRect">
            <a:avLst>
              <a:gd name="adj" fmla="val 6056"/>
            </a:avLst>
          </a:prstGeom>
          <a:solidFill>
            <a:srgbClr val="F3F3F7"/>
          </a:solidFill>
          <a:ln w="9525">
            <a:solidFill>
              <a:srgbClr val="C6C6D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3925119" y="3872210"/>
            <a:ext cx="4722763" cy="38100"/>
          </a:xfrm>
          <a:prstGeom prst="roundRect">
            <a:avLst>
              <a:gd name="adj" fmla="val 36279"/>
            </a:avLst>
          </a:prstGeom>
          <a:solidFill>
            <a:srgbClr val="101014"/>
          </a:solidFill>
          <a:ln/>
        </p:spPr>
      </p:sp>
      <p:sp>
        <p:nvSpPr>
          <p:cNvPr id="24" name="Shape 18"/>
          <p:cNvSpPr/>
          <p:nvPr/>
        </p:nvSpPr>
        <p:spPr>
          <a:xfrm>
            <a:off x="6148313" y="3743548"/>
            <a:ext cx="276374" cy="276374"/>
          </a:xfrm>
          <a:prstGeom prst="roundRect">
            <a:avLst>
              <a:gd name="adj" fmla="val 206785"/>
            </a:avLst>
          </a:prstGeom>
          <a:solidFill>
            <a:srgbClr val="101014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31210" y="3826446"/>
            <a:ext cx="110505" cy="11050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026768" y="4112047"/>
            <a:ext cx="186883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Изменения по результатам теста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4026768" y="4291905"/>
            <a:ext cx="4519464" cy="243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conversion to deposit окажется низкой — пересмотрим уровень комиссии, добавим льготный период или снизим порог входа.</a:t>
            </a:r>
            <a:endParaRPr lang="en-US" sz="700" dirty="0"/>
          </a:p>
        </p:txBody>
      </p:sp>
      <p:pic>
        <p:nvPicPr>
          <p:cNvPr id="28" name="Picture 27" descr="Финансовый рост – Бесплатные иконки: бизнес и финансы">
            <a:extLst>
              <a:ext uri="{FF2B5EF4-FFF2-40B4-BE49-F238E27FC236}">
                <a16:creationId xmlns:a16="http://schemas.microsoft.com/office/drawing/2014/main" id="{ABEC3492-374C-B95D-D126-685C33E969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6713" y="1051247"/>
            <a:ext cx="3168345" cy="316834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5AD8773-18DA-EC22-182C-B99C5CCE6E7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57040" y="4853915"/>
            <a:ext cx="1386960" cy="2895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813</Words>
  <Application>Microsoft Office PowerPoint</Application>
  <PresentationFormat>On-screen Show (16:9)</PresentationFormat>
  <Paragraphs>111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Playfair Display Bold</vt:lpstr>
      <vt:lpstr>Open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Никита Новоженин</dc:creator>
  <cp:lastModifiedBy>Никита Новоженин</cp:lastModifiedBy>
  <cp:revision>3</cp:revision>
  <dcterms:created xsi:type="dcterms:W3CDTF">2026-05-12T11:10:24Z</dcterms:created>
  <dcterms:modified xsi:type="dcterms:W3CDTF">2026-05-12T11:24:45Z</dcterms:modified>
</cp:coreProperties>
</file>