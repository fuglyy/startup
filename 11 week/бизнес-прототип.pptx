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B0604020202020204" charset="0"/>
      <p:regular r:id="rId13"/>
    </p:embeddedFont>
    <p:embeddedFont>
      <p:font typeface="Host Grotesk Medium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46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298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2.png"/><Relationship Id="rId7" Type="http://schemas.openxmlformats.org/officeDocument/2006/relationships/image" Target="../media/image-6-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-6-5.svg"/><Relationship Id="rId5" Type="http://schemas.openxmlformats.org/officeDocument/2006/relationships/image" Target="../media/image-6-3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8-8.svg"/><Relationship Id="rId3" Type="http://schemas.openxmlformats.org/officeDocument/2006/relationships/image" Target="../media/image16.png"/><Relationship Id="rId7" Type="http://schemas.openxmlformats.org/officeDocument/2006/relationships/image" Target="../media/image-8-6.svg"/><Relationship Id="rId12" Type="http://schemas.openxmlformats.org/officeDocument/2006/relationships/image" Target="../media/image-8-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-8-4.svg"/><Relationship Id="rId5" Type="http://schemas.openxmlformats.org/officeDocument/2006/relationships/image" Target="../media/image13.png"/><Relationship Id="rId10" Type="http://schemas.openxmlformats.org/officeDocument/2006/relationships/image" Target="../media/image-8-10.sv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6106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Wellex — минимальный бизнес‑прототип и тактика выхода на рынок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89" y="4939700"/>
            <a:ext cx="7556421" cy="850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Команда №3: Дмитрив Д.И, Новоженин Н.Д, Павленко Т.С, Сопина Я.Ю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433060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1" y="4293470"/>
            <a:ext cx="1862324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ru-RU" sz="2800" dirty="0" smtClean="0">
                <a:solidFill>
                  <a:srgbClr val="384653"/>
                </a:solidFill>
                <a:latin typeface="Roboto" panose="020B0604020202020204" charset="0"/>
                <a:ea typeface="Roboto" panose="020B0604020202020204" charset="0"/>
              </a:rPr>
              <a:t>Неделя 11</a:t>
            </a:r>
            <a:endParaRPr lang="en-US" sz="2800" dirty="0">
              <a:solidFill>
                <a:srgbClr val="384653"/>
              </a:solidFill>
              <a:latin typeface="Roboto" panose="020B0604020202020204" charset="0"/>
              <a:ea typeface="Roboto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517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5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О проекте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93789" y="2169462"/>
            <a:ext cx="13042821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40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Wellex</a:t>
            </a:r>
            <a:r>
              <a:rPr lang="en-US" sz="2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прогнозный рынок, построенный на механике Order Book. Целевой сегмент: продвинутые розничные трейдеры (крипта / акции) и энтузиасты прогнозных рынков. Сценарий: пользователь монетизирует знание события (выборы, релиз, спорт) через биржевую торговую механику.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337328"/>
            <a:ext cx="1849993" cy="18499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27271" y="4337328"/>
            <a:ext cx="36518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Ценностное предложение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927271" y="4827746"/>
            <a:ext cx="4246126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«Торгуй исходами событий как акциями: полный стакан, лимитные заявки, никакого посредника».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4337328"/>
            <a:ext cx="1850112" cy="18501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90484" y="43373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First value moment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590484" y="4827746"/>
            <a:ext cx="4246126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Лимитная заявка появляется в реальном стакане через WebSocket менее чем за 30 секунд — момент, который формирует доверие.</a:t>
            </a:r>
            <a:endParaRPr lang="en-US" sz="175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63500" y="7781925"/>
            <a:ext cx="175260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5425" y="793075"/>
            <a:ext cx="7605951" cy="1043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ТОП‑3 критических рыночных гипотез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6255425" y="2437924"/>
            <a:ext cx="3706892" cy="2697480"/>
          </a:xfrm>
          <a:prstGeom prst="roundRect">
            <a:avLst>
              <a:gd name="adj" fmla="val 4068"/>
            </a:avLst>
          </a:prstGeom>
          <a:solidFill>
            <a:srgbClr val="FAF9F5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425" y="2415064"/>
            <a:ext cx="3706892" cy="9144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796" y="2124908"/>
            <a:ext cx="626150" cy="6261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983676" y="2281476"/>
            <a:ext cx="250388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3"/>
          <p:cNvSpPr/>
          <p:nvPr/>
        </p:nvSpPr>
        <p:spPr>
          <a:xfrm>
            <a:off x="6487001" y="2959775"/>
            <a:ext cx="3240643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1. Понимание Order Book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6487001" y="3401258"/>
            <a:ext cx="3243739" cy="1502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Риск: продукт кажется необычным. Критерий проверки: ≥70% респондентов корректно объясняют цену актива после демо.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0154364" y="2437924"/>
            <a:ext cx="3707011" cy="2697480"/>
          </a:xfrm>
          <a:prstGeom prst="roundRect">
            <a:avLst>
              <a:gd name="adj" fmla="val 4068"/>
            </a:avLst>
          </a:prstGeom>
          <a:solidFill>
            <a:srgbClr val="FAF9F5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364" y="2415064"/>
            <a:ext cx="3707011" cy="9144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94735" y="2124908"/>
            <a:ext cx="626150" cy="6261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82616" y="2281476"/>
            <a:ext cx="250388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4" name="Text 7"/>
          <p:cNvSpPr/>
          <p:nvPr/>
        </p:nvSpPr>
        <p:spPr>
          <a:xfrm>
            <a:off x="10385941" y="2959775"/>
            <a:ext cx="2609374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2. Сбор контактов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10385941" y="3401258"/>
            <a:ext cx="3243858" cy="90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Риск: высокий порог доверия. Критерий проверки: конверсия в заявку на лендинге &gt;15%.</a:t>
            </a: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6255425" y="5640467"/>
            <a:ext cx="7605951" cy="1795939"/>
          </a:xfrm>
          <a:prstGeom prst="roundRect">
            <a:avLst>
              <a:gd name="adj" fmla="val 6110"/>
            </a:avLst>
          </a:prstGeom>
          <a:solidFill>
            <a:srgbClr val="FAF9F5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5425" y="5617607"/>
            <a:ext cx="7605951" cy="91440"/>
          </a:xfrm>
          <a:prstGeom prst="rect">
            <a:avLst/>
          </a:prstGeom>
        </p:spPr>
      </p:pic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5325" y="5327452"/>
            <a:ext cx="626150" cy="62615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933206" y="5484019"/>
            <a:ext cx="250388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950" dirty="0"/>
          </a:p>
        </p:txBody>
      </p:sp>
      <p:sp>
        <p:nvSpPr>
          <p:cNvPr id="20" name="Text 11"/>
          <p:cNvSpPr/>
          <p:nvPr/>
        </p:nvSpPr>
        <p:spPr>
          <a:xfrm>
            <a:off x="6487001" y="6162318"/>
            <a:ext cx="3935492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3. Трафик из Telegram‑каналов</a:t>
            </a:r>
            <a:endParaRPr lang="en-US" sz="2050" dirty="0"/>
          </a:p>
        </p:txBody>
      </p:sp>
      <p:sp>
        <p:nvSpPr>
          <p:cNvPr id="21" name="Text 12"/>
          <p:cNvSpPr/>
          <p:nvPr/>
        </p:nvSpPr>
        <p:spPr>
          <a:xfrm>
            <a:off x="6487001" y="6603802"/>
            <a:ext cx="7142798" cy="60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Риск: канал может не приводить целевую аудиторию. Целевой путь: 500 просмотров → 40 переходов → 6 заявок.</a:t>
            </a:r>
            <a:endParaRPr lang="en-US" sz="1600" dirty="0"/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53499" y="7781925"/>
            <a:ext cx="175260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0020"/>
            <a:ext cx="874430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Минимальный бизнес‑прототип (МБП)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130623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Формат: лендинг + форма заявки + демо‑видео с живым Order Book. Цель — быстро собрать ранних пользователей и проверить поведенческие гипотезы.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708678"/>
            <a:ext cx="4885015" cy="27680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39828" y="3292912"/>
            <a:ext cx="29900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Что демонстрируется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39828" y="3874056"/>
            <a:ext cx="7604284" cy="117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Реальный стакан ордеров (Buy / Sell)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Выставление лимитной заявки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WebSocket‑обновления в реальном времени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39828" y="5279946"/>
            <a:ext cx="33031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Пользовательский путь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39828" y="5861090"/>
            <a:ext cx="7604284" cy="117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Смотрит видео (≈45 с)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Нажимает «Получить ранний доступ»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Заполняет форму (контакт + опыт + интересы)</a:t>
            </a:r>
            <a:endParaRPr lang="en-US" sz="175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1728" y="7781925"/>
            <a:ext cx="175260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37749"/>
            <a:ext cx="681787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Позиционирование и A/B тест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2171700"/>
            <a:ext cx="30187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Версия A — механика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2752844"/>
            <a:ext cx="3501509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Wellex — первый прогнозный рынок с реальным стаканом ордеров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3977402"/>
            <a:ext cx="3501509" cy="2199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Лимитные заявки и спреды, как на бирже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WebSocket‑обновления в реальном времени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Никакой букмекерской логики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2171700"/>
            <a:ext cx="29056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Версия B — прибыль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342721" y="2752844"/>
            <a:ext cx="3501509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Твои прогнозы → твоя цена. Торгуй исходами через лимитные заявки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3977402"/>
            <a:ext cx="3501509" cy="185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Ставь цену сам, а не против букмекера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Прозрачная глубина рынка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Подходит для скальпинга событий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80190" y="6511409"/>
            <a:ext cx="75564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Ключевое отличие: вместо «угадал/не угадал» — настоящая книга ордеров, где формируется цена рынком.</a:t>
            </a:r>
            <a:endParaRPr lang="en-US" sz="175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6157" y="7758708"/>
            <a:ext cx="175260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28543"/>
            <a:ext cx="6847403" cy="510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Тактика выхода на рынок: каналы</a:t>
            </a:r>
            <a:endParaRPr lang="en-US" sz="3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280190" y="1514356"/>
            <a:ext cx="510302" cy="5103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2254210"/>
            <a:ext cx="396192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Telegram‑чаты трейдеров / DeFi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6280190" y="2683192"/>
            <a:ext cx="7556421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Сегмент уже там; формат — пост + скриншот стакана. CTA: «Оставить заявку на ранний доступ».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280190" y="3632359"/>
            <a:ext cx="510302" cy="5103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80190" y="4372213"/>
            <a:ext cx="400359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Twitter (X) — альткоин аккаунты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6280190" y="4801195"/>
            <a:ext cx="7556421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Виральность скриншотов стакана; формат — короткое видео (≈40 с) + ссылка на лендинг.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280190" y="5750362"/>
            <a:ext cx="510302" cy="5103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80190" y="6490216"/>
            <a:ext cx="354651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Прямые личные сообщения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6280190" y="6919198"/>
            <a:ext cx="7556421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Точечный контакт с активными трейдерами по скрипту (5–7 строк). CTA: «Скинуть демо?»</a:t>
            </a:r>
            <a:endParaRPr lang="en-US" sz="1600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52614" y="7755357"/>
            <a:ext cx="175260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74840"/>
            <a:ext cx="68200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Скрипт первого контакта (DM)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2481977"/>
            <a:ext cx="75564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Текст сообщения (Telegram / Twitter DM)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коротко, честно, без регистрации: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417451"/>
            <a:ext cx="7556421" cy="170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Привет! 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👋</a:t>
            </a: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Мы делаем Wellex — прогнозный рынок с реальным стаканом ордеров, как на бирже. Можно выставлять лимитные заявки на исходы (выборы, релизы, спорт). Ищем первых трейдеров для фидбека. Без спама и регистрации — просто посмотри демо‑видео и скажи, заходит ли идея. Скинуть ссылку?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5373410"/>
            <a:ext cx="7556421" cy="1281232"/>
          </a:xfrm>
          <a:prstGeom prst="roundRect">
            <a:avLst>
              <a:gd name="adj" fmla="val 7436"/>
            </a:avLst>
          </a:prstGeom>
          <a:solidFill>
            <a:srgbClr val="C6E4E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004" y="5702260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17306" y="5656898"/>
            <a:ext cx="659249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Критерии отбора: подписан на трейдинг‑каналы, упоминал Polymarket / Augur / Kalshi, активен в последние 2 недели.</a:t>
            </a:r>
            <a:endParaRPr lang="en-US" sz="175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7800" y="7690076"/>
            <a:ext cx="1665514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407" y="623054"/>
            <a:ext cx="7419737" cy="530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Воронка привлечения и активации</a:t>
            </a:r>
            <a:endParaRPr lang="en-US" sz="3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955" y="1450777"/>
            <a:ext cx="7202091" cy="43931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4372" y="2309637"/>
            <a:ext cx="1641382" cy="21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View</a:t>
            </a:r>
            <a:endParaRPr lang="en-US" sz="13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775149" y="2965801"/>
            <a:ext cx="388694" cy="38869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294056" y="4257236"/>
            <a:ext cx="1641382" cy="21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Click</a:t>
            </a:r>
            <a:endParaRPr lang="en-US" sz="13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2995041" y="3202783"/>
            <a:ext cx="388694" cy="38869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692747" y="2519167"/>
            <a:ext cx="1694706" cy="21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Form</a:t>
            </a:r>
            <a:endParaRPr lang="en-US" sz="13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223800" y="3439764"/>
            <a:ext cx="388694" cy="38869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830527" y="4766304"/>
            <a:ext cx="1641382" cy="21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Watch</a:t>
            </a:r>
            <a:endParaRPr lang="en-US" sz="13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5452437" y="3676746"/>
            <a:ext cx="388694" cy="38869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287400" y="2976733"/>
            <a:ext cx="1641383" cy="21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Feedback</a:t>
            </a:r>
            <a:endParaRPr lang="en-US" sz="135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760150" y="3931220"/>
            <a:ext cx="388694" cy="388693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781407" y="6067068"/>
            <a:ext cx="7581186" cy="1539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Модель конверсии (пример): Показ → 500 просмотров; Переход → CTR 8% (≈40); Заявка → CR 15% (≈6); Активация (просмотр видео) → 60% от заявок (≈4); Обратная связь → 20% от активированных (≈1). Time‑to‑value: &lt; 2 минуты. NSM: число трейдеров, выставивших хотя бы один лимитный ордер.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550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Метрики контроля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337792"/>
            <a:ext cx="6244709" cy="4461034"/>
          </a:xfrm>
          <a:prstGeom prst="roundRect">
            <a:avLst>
              <a:gd name="adj" fmla="val 213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345412"/>
            <a:ext cx="6229469" cy="6275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2489121"/>
            <a:ext cx="141136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Этап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900958" y="2489121"/>
            <a:ext cx="390310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Цель / Показатель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2972991"/>
            <a:ext cx="6229469" cy="6275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28343" y="3116699"/>
            <a:ext cx="141136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Показ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2900958" y="3116699"/>
            <a:ext cx="390310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Пост — 500 просмотров (TG / X)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3600569"/>
            <a:ext cx="6229469" cy="6275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343" y="3744278"/>
            <a:ext cx="141136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Интерес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2900958" y="3744278"/>
            <a:ext cx="390310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Клики на лендинг — 40 (CTR 8%)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228148"/>
            <a:ext cx="6229469" cy="6275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28343" y="4371856"/>
            <a:ext cx="141136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Заявка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2900958" y="4371856"/>
            <a:ext cx="390310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Отправка формы — 6 (CR 15%)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855726"/>
            <a:ext cx="6229469" cy="9677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4999434"/>
            <a:ext cx="141136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Активация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2900958" y="4999434"/>
            <a:ext cx="3903107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Просмотр видео до конца — 60% от заявок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5823466"/>
            <a:ext cx="6229469" cy="9677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343" y="5967174"/>
            <a:ext cx="141136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След. шаг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2900958" y="5967174"/>
            <a:ext cx="3903107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Ответ на приглашение — 20% от активированных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99521" y="2309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Инструменты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99521" y="2890599"/>
            <a:ext cx="6244709" cy="1519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Analytics + UTM для лендинга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Telegram Stats / Twitter Analytics для каналов</a:t>
            </a:r>
            <a:endParaRPr lang="en-US" sz="175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Webhook формы → Excel / Notion для сводной аналитики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599521" y="4664988"/>
            <a:ext cx="6244709" cy="1621393"/>
          </a:xfrm>
          <a:prstGeom prst="roundRect">
            <a:avLst>
              <a:gd name="adj" fmla="val 5876"/>
            </a:avLst>
          </a:prstGeom>
          <a:solidFill>
            <a:srgbClr val="B6D6FC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335" y="4993838"/>
            <a:ext cx="283488" cy="22681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336637" y="4948476"/>
            <a:ext cx="5280779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Рекомендация: централизовать данные в Notion для быстрого принятия решений по экспериментам.</a:t>
            </a:r>
            <a:endParaRPr lang="en-US" sz="1750" dirty="0"/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41116" y="7781925"/>
            <a:ext cx="1752600" cy="4476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025" y="817602"/>
            <a:ext cx="7557611" cy="54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План экспериментов (1–2 недели)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769025" y="1686044"/>
            <a:ext cx="2393394" cy="4513183"/>
          </a:xfrm>
          <a:prstGeom prst="roundRect">
            <a:avLst>
              <a:gd name="adj" fmla="val 385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96315" y="1913334"/>
            <a:ext cx="1938814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A/B заголовка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996315" y="2384227"/>
            <a:ext cx="1938814" cy="2920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Гипотеза: заголовок с «Order Book» даст +30% к конверсии. Тест: версии A vs B. Критерий успеха: прирост CR формы &gt;30%. Срок: 5 дней.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375184" y="1686044"/>
            <a:ext cx="2393513" cy="4513183"/>
          </a:xfrm>
          <a:prstGeom prst="roundRect">
            <a:avLst>
              <a:gd name="adj" fmla="val 385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02474" y="1913334"/>
            <a:ext cx="1938933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Видео vs текст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3602474" y="2727484"/>
            <a:ext cx="1938933" cy="3244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Гипотеза: живой стакан в видео удерживает дольше. Метрика: время на странице и % просмотра. Критерий: &gt;45 с просмотра. Срок: 3 дня.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981462" y="1686044"/>
            <a:ext cx="2393513" cy="4513183"/>
          </a:xfrm>
          <a:prstGeom prst="roundRect">
            <a:avLst>
              <a:gd name="adj" fmla="val 3856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08752" y="1913334"/>
            <a:ext cx="193893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Личка vs пост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208752" y="2384227"/>
            <a:ext cx="1938933" cy="3244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Гипотеза: личные DM дают в 2× больше отклика. Тест: пост в канале vs 10 личных DM. Критерий успеха: отклик в личке &gt;25%. Срок: 7 дней.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69025" y="6438662"/>
            <a:ext cx="7605951" cy="97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Правило принятия решения: успех → масштабируем канал/вариант; неудача → меняем гипотезу или формат. Фокус на быстрой итерации и оперативной аналитике.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837</Words>
  <Application>Microsoft Office PowerPoint</Application>
  <PresentationFormat>Произвольный</PresentationFormat>
  <Paragraphs>95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Roboto</vt:lpstr>
      <vt:lpstr>Arial</vt:lpstr>
      <vt:lpstr>Host Grotesk Medium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1</dc:creator>
  <cp:lastModifiedBy>1</cp:lastModifiedBy>
  <cp:revision>3</cp:revision>
  <dcterms:created xsi:type="dcterms:W3CDTF">2026-04-20T21:33:11Z</dcterms:created>
  <dcterms:modified xsi:type="dcterms:W3CDTF">2026-04-20T21:37:28Z</dcterms:modified>
</cp:coreProperties>
</file>