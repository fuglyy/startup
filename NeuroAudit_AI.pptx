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229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64008" cy="22860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25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NeuroAudit AI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автоматического контроля качества продаж в мессенджерах на базе LLM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рыночной ситуации и обоснование бизнес-модели стартапа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· AI · WhatsApp · Telegram · Малый и средний бизнес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ИДЕЯ, ПРОБЛЕМА И СЦЕНАРИЙ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1325880"/>
          </a:xfrm>
          <a:prstGeom prst="rect">
            <a:avLst/>
          </a:prstGeom>
          <a:solidFill>
            <a:srgbClr val="1A2237"/>
          </a:solidFill>
          <a:ln w="19050">
            <a:solidFill>
              <a:srgbClr val="6C63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886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ИДЕЯ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188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SaaS-платформа на базе AI для автоматизированного семантического аудита текстовых коммуникаций менеджеров по продажам (WhatsApp/Telegram).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777240"/>
            <a:ext cx="4206240" cy="1325880"/>
          </a:xfrm>
          <a:prstGeom prst="rect">
            <a:avLst/>
          </a:prstGeom>
          <a:solidFill>
            <a:srgbClr val="1A2237"/>
          </a:solidFill>
          <a:ln w="190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8686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886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46320" y="1188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Недополученная выручка МСБ из-за нарушения стандартов коммуникации в текстовых каналах продаж и отсутствия инструментов сплошного контроля качества.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743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СЦЕНАРИЙ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2633472"/>
            <a:ext cx="2743200" cy="2240280"/>
          </a:xfrm>
          <a:prstGeom prst="rect">
            <a:avLst/>
          </a:prstGeom>
          <a:solidFill>
            <a:srgbClr val="1A2237"/>
          </a:solidFill>
          <a:ln w="12700">
            <a:solidFill>
              <a:srgbClr val="6C63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633472"/>
            <a:ext cx="2743200" cy="64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43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2770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Пользователь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11480" y="3154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Собственник бизнеса или РОП. Компания имеет стабильный поток лидов, которые обрабатываются в мессенджерах.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27832" y="2633472"/>
            <a:ext cx="2743200" cy="2240280"/>
          </a:xfrm>
          <a:prstGeom prst="rect">
            <a:avLst/>
          </a:prstGeom>
          <a:solidFill>
            <a:srgbClr val="1A2237"/>
          </a:solidFill>
          <a:ln w="12700">
            <a:solidFill>
              <a:srgbClr val="FFB84D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27832" y="2633472"/>
            <a:ext cx="2743200" cy="6400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2743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776472" y="2770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364992" y="3154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Менеджеры нарушают регламенты: долго отвечают, игнорируют возражения, не делают допродажи. CRM фиксирует лишь «Отказ».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181344" y="2633472"/>
            <a:ext cx="2743200" cy="2240280"/>
          </a:xfrm>
          <a:prstGeom prst="rect">
            <a:avLst/>
          </a:prstGeom>
          <a:solidFill>
            <a:srgbClr val="1A2237"/>
          </a:solidFill>
          <a:ln w="1270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181344" y="2633472"/>
            <a:ext cx="27432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504" y="274320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29984" y="2770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Последствия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318504" y="3154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ROMI, прямые финансовые потери, падение LTV и репутационные издержки.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СЕГМЕНТАЦИЯ РЫНКА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Оси: Канал коммуникации (Текст / Голос)  ×  Уровень цифровой зрелости (С CRM / Без CRM)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14800" cy="1737360"/>
          </a:xfrm>
          <a:prstGeom prst="rect">
            <a:avLst/>
          </a:prstGeom>
          <a:solidFill>
            <a:srgbClr val="1A2237"/>
          </a:solidFill>
          <a:ln w="12700">
            <a:solidFill>
              <a:srgbClr val="8892B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14800" cy="64008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1216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Микропредприятия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1536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+ Без CRM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через соцсети, личные устройства сотрудников. Инструменты контроля отсутствуют.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560320"/>
            <a:ext cx="2560320" cy="219456"/>
          </a:xfrm>
          <a:prstGeom prst="roundRect">
            <a:avLst>
              <a:gd name="adj" fmla="val 20833"/>
            </a:avLst>
          </a:prstGeom>
          <a:solidFill>
            <a:srgbClr val="8892B0">
              <a:alpha val="25000"/>
            </a:srgbClr>
          </a:solidFill>
          <a:ln w="12700">
            <a:solidFill>
              <a:srgbClr val="8892B0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56032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латентная потребность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114800" cy="1737360"/>
          </a:xfrm>
          <a:prstGeom prst="rect">
            <a:avLst/>
          </a:prstGeom>
          <a:solidFill>
            <a:srgbClr val="1E2D47"/>
          </a:solidFill>
          <a:ln w="25400">
            <a:solidFill>
              <a:srgbClr val="00D4A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1148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93792" y="1216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МСБ с CRM ★ ЦЕЛЕВОЙ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93792" y="1536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+ CRM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EdTech, e-commerce, сфера услуг. Коммуникация через amoCRM / Битрикс24 + агрегаторы мессенджеров.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2560320"/>
            <a:ext cx="2560320" cy="219456"/>
          </a:xfrm>
          <a:prstGeom prst="roundRect">
            <a:avLst>
              <a:gd name="adj" fmla="val 20833"/>
            </a:avLst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56032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возможностей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114800" cy="1737360"/>
          </a:xfrm>
          <a:prstGeom prst="rect">
            <a:avLst/>
          </a:prstGeom>
          <a:solidFill>
            <a:srgbClr val="1A2237"/>
          </a:solidFill>
          <a:ln w="12700">
            <a:solidFill>
              <a:srgbClr val="8892B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17520"/>
            <a:ext cx="4114800" cy="64008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" y="3136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Классические ОП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3232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+ CRM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749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B2B, оптовая торговля. Облачные АТС, речевая аналитика телефонии — высококонкурентный рынок.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4480560"/>
            <a:ext cx="2560320" cy="219456"/>
          </a:xfrm>
          <a:prstGeom prst="roundRect">
            <a:avLst>
              <a:gd name="adj" fmla="val 20833"/>
            </a:avLst>
          </a:prstGeom>
          <a:solidFill>
            <a:srgbClr val="8892B0">
              <a:alpha val="25000"/>
            </a:srgbClr>
          </a:solidFill>
          <a:ln w="12700">
            <a:solidFill>
              <a:srgbClr val="8892B0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4805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консолидирован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3017520"/>
            <a:ext cx="4114800" cy="1737360"/>
          </a:xfrm>
          <a:prstGeom prst="rect">
            <a:avLst/>
          </a:prstGeom>
          <a:solidFill>
            <a:srgbClr val="1A2237"/>
          </a:solidFill>
          <a:ln w="12700">
            <a:solidFill>
              <a:srgbClr val="8892B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017520"/>
            <a:ext cx="4114800" cy="64008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93792" y="3136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Консервативный офлайн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93792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+ Без CRM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услуги, ремонт. Низкая цифровизация и готовность к инновациям.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4480560"/>
            <a:ext cx="2560320" cy="219456"/>
          </a:xfrm>
          <a:prstGeom prst="roundRect">
            <a:avLst>
              <a:gd name="adj" fmla="val 20833"/>
            </a:avLst>
          </a:prstGeom>
          <a:solidFill>
            <a:srgbClr val="8892B0">
              <a:alpha val="25000"/>
            </a:srgbClr>
          </a:solidFill>
          <a:ln w="12700">
            <a:solidFill>
              <a:srgbClr val="8892B0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44805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готовность </a:t>
            </a:r>
            <a:r>
              <a:rPr lang="en-US" sz="850" b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8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КАРТА РЫНКА — MARKET MAP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37673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Сегмент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Текущие решения / Игроки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Оценка рынка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Микропредприятия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(Текст + Без CRM)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Ручной выборочный контроль, пересылка скриншотов руководителю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Слепая зона. Высокая латентная потребность при низкой платёжеспособности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★ МСБ с CRM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(Текст + CRM)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Базовые триггеры CRM (статус ответа), ручной аудит РОПом небольшой выборки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ОКНО ВОЗМОЖНОСТЕЙ. Острый дефицит специализированных SaaS-решений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Классические ОП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(Голос + CRM)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 Office, UIS, аутсорсинг контроля качества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Высококонкурентный, консолидированный рынок крупных телеком-вендоров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Консервативный офлайн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(Голос + Без CRM)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Контроль отсутствует или на личном доверии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Крайне низкая готовность к внедрению инноваций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FFB84D">
              <a:alpha val="10000"/>
            </a:srgbClr>
          </a:solidFill>
          <a:ln w="12700">
            <a:solidFill>
              <a:srgbClr val="FFB84D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КОНКУРЕНТЫ И ЗАМЕНЫ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1920240"/>
          </a:xfrm>
          <a:prstGeom prst="rect">
            <a:avLst/>
          </a:prstGeom>
          <a:solidFill>
            <a:srgbClr val="1A2237"/>
          </a:solidFill>
          <a:ln w="1270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6868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6B6B">
              <a:alpha val="35000"/>
            </a:srgbClr>
          </a:solidFill>
          <a:ln w="12700">
            <a:solidFill>
              <a:srgbClr val="FF6B6B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68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115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Кастомные AI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 интеграторов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16733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Максимальная адаптивность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9659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Высокая стоимость, 3+ месяца разработки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44144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150 000 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777240"/>
            <a:ext cx="2743200" cy="1920240"/>
          </a:xfrm>
          <a:prstGeom prst="rect">
            <a:avLst/>
          </a:prstGeom>
          <a:solidFill>
            <a:srgbClr val="1A2237"/>
          </a:solidFill>
          <a:ln w="12700">
            <a:solidFill>
              <a:srgbClr val="FFB84D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777240"/>
            <a:ext cx="2743200" cy="54864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86868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B84D">
              <a:alpha val="35000"/>
            </a:srgbClr>
          </a:solidFill>
          <a:ln w="12700">
            <a:solidFill>
              <a:srgbClr val="FFB84D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868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Косвенный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128" y="1115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Речевая аналитика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(Mango, UIS)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0128" y="16733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Мощная инфраструктура, точность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19659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Не работают с текстом мессенджеров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44144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15 000 ₽/мес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777240"/>
            <a:ext cx="2743200" cy="1920240"/>
          </a:xfrm>
          <a:prstGeom prst="rect">
            <a:avLst/>
          </a:prstGeom>
          <a:solidFill>
            <a:srgbClr val="1A2237"/>
          </a:solidFill>
          <a:ln w="12700">
            <a:solidFill>
              <a:srgbClr val="8892B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777240"/>
            <a:ext cx="2743200" cy="54864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86868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8892B0">
              <a:alpha val="35000"/>
            </a:srgbClr>
          </a:solidFill>
          <a:ln w="12700">
            <a:solidFill>
              <a:srgbClr val="8892B0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868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36208" y="1115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Аутсорсинг ОКК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36208" y="16733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Без расширения штата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6208" y="19659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Человеческий фактор, задержки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244144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20 000 ₽/мес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737360" y="2926080"/>
            <a:ext cx="2743200" cy="1920240"/>
          </a:xfrm>
          <a:prstGeom prst="rect">
            <a:avLst/>
          </a:prstGeom>
          <a:solidFill>
            <a:srgbClr val="1A2237"/>
          </a:solidFill>
          <a:ln w="12700">
            <a:solidFill>
              <a:srgbClr val="8892B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737360" y="2926080"/>
            <a:ext cx="2743200" cy="54864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301752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8892B0">
              <a:alpha val="35000"/>
            </a:srgbClr>
          </a:solidFill>
          <a:ln w="12700">
            <a:solidFill>
              <a:srgbClr val="8892B0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3017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47088" y="32644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Штатный РОП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(ручная проверка)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847088" y="38221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Глубокое знание продукта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47088" y="411480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Охват лишь 3–5% диалогов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47088" y="459028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 РОПа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926080"/>
            <a:ext cx="2743200" cy="1920240"/>
          </a:xfrm>
          <a:prstGeom prst="rect">
            <a:avLst/>
          </a:prstGeom>
          <a:solidFill>
            <a:srgbClr val="1A2237"/>
          </a:solidFill>
          <a:ln w="1270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926080"/>
            <a:ext cx="27432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01752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6B6B">
              <a:alpha val="35000"/>
            </a:srgbClr>
          </a:solidFill>
          <a:ln w="12700">
            <a:solidFill>
              <a:srgbClr val="FF6B6B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017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73168" y="32644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Статус-кво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(отказ от контроля)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773168" y="38221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Нет затрат на системы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73168" y="411480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Систематическая потеря лидов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73168" y="459028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потери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914400"/>
            <a:ext cx="4572000" cy="45720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ТРЕНДЫ И ОГРАНИЧЕНИЯ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ДРАЙВЕРЫ РОСТА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4160520" cy="1097280"/>
          </a:xfrm>
          <a:prstGeom prst="rect">
            <a:avLst/>
          </a:prstGeom>
          <a:solidFill>
            <a:srgbClr val="1A2237"/>
          </a:solidFill>
          <a:ln w="10160">
            <a:solidFill>
              <a:srgbClr val="00D4AA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441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325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Трансформация каналов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1737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первичных обращений в e-commerce и услугах в РФ — через мессенджеры. Асинхронное общение стало нормой.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2468880"/>
            <a:ext cx="4160520" cy="1097280"/>
          </a:xfrm>
          <a:prstGeom prst="rect">
            <a:avLst/>
          </a:prstGeom>
          <a:solidFill>
            <a:srgbClr val="1A2237"/>
          </a:solidFill>
          <a:ln w="10160">
            <a:solidFill>
              <a:srgbClr val="00D4AA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57860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2560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Рост стоимости лида (CAC)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38912" y="2971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Инфляция в performance-маркетинге делает потерю лида на этапе обработки критичной. Бизнес переключается на CRO.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74320" y="3703320"/>
            <a:ext cx="4160520" cy="1097280"/>
          </a:xfrm>
          <a:prstGeom prst="rect">
            <a:avLst/>
          </a:prstGeom>
          <a:solidFill>
            <a:srgbClr val="1A2237"/>
          </a:solidFill>
          <a:ln w="10160">
            <a:solidFill>
              <a:srgbClr val="00D4AA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81304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3794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Демократизация AI / LLM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38912" y="4206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стоимости API LLM позволяет обрабатывать огромные массивы текста с минимальной себестоимостью — высокая маржа unit-экономики.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777240"/>
            <a:ext cx="416052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09160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БАРЬЕРЫ ВХОДА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09160" y="1234440"/>
            <a:ext cx="4160520" cy="1554480"/>
          </a:xfrm>
          <a:prstGeom prst="rect">
            <a:avLst/>
          </a:prstGeom>
          <a:solidFill>
            <a:srgbClr val="1A2237"/>
          </a:solidFill>
          <a:ln w="1016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134416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0352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Информационная безопасность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73752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Опасения собственников относительно передачи клиентских баз на сторонние серверы. Решение: строгие NDA + on-premise архитектура в перспективе.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709160" y="2926080"/>
            <a:ext cx="4160520" cy="1554480"/>
          </a:xfrm>
          <a:prstGeom prst="rect">
            <a:avLst/>
          </a:prstGeom>
          <a:solidFill>
            <a:srgbClr val="1A2237"/>
          </a:solidFill>
          <a:ln w="10160">
            <a:solidFill>
              <a:srgbClr val="FFB84D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03580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Фрагментация IT-инфраструктуры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873752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сложность агрегации данных из компаний, использующих «серые» схемы работы с мессенджерами без привязки к официальным API CRM.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5486400" cy="54864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ВЫВОД: СТРАТЕГИЯ ВЫХОДА НА РЫНОК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E2D47"/>
          </a:solidFill>
          <a:ln w="25400">
            <a:solidFill>
              <a:srgbClr val="6C63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ПРИОРИТЕТНЫЙ СЕГМЕНТ (Go-To-Market)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51560" y="1124712"/>
            <a:ext cx="7589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МСБ с интегрированной CRM (amoCRM/Битрикс24) + текстовые каналы продаж: EdTech, e-commerce, агентства недвижимости.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Обоснование: данные оцифрованы, острая финансовая «боль» от потери лидов, высокая скорость принятия решений.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2176272"/>
            <a:ext cx="2743200" cy="2697480"/>
          </a:xfrm>
          <a:prstGeom prst="rect">
            <a:avLst/>
          </a:prstGeom>
          <a:solidFill>
            <a:srgbClr val="1A2237"/>
          </a:solidFill>
          <a:ln w="12700">
            <a:solidFill>
              <a:srgbClr val="00D4A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176272"/>
            <a:ext cx="27432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1343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" y="277063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Ключевая гипотеза ценности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84048" y="3319272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AI-аудит чатов позволит выявить системные сбои в скриптах продаж и сократить упущенную выручку на 15–20%. Ценность многократно окупает ежемесячную подписку.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27832" y="2176272"/>
            <a:ext cx="2743200" cy="2697480"/>
          </a:xfrm>
          <a:prstGeom prst="rect">
            <a:avLst/>
          </a:prstGeom>
          <a:solidFill>
            <a:srgbClr val="1A2237"/>
          </a:solidFill>
          <a:ln w="12700">
            <a:solidFill>
              <a:srgbClr val="FFB84D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27832" y="2176272"/>
            <a:ext cx="2743200" cy="6400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31343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37560" y="277063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Первичная метрика (Traction)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337560" y="3319272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из холодного B2B-обращения (к РОПам/собственникам) в согласие на бесплатный пилотный аудит 50 диалогов. Цель: конверсия в лид &gt; 5%.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81344" y="2176272"/>
            <a:ext cx="2743200" cy="2697480"/>
          </a:xfrm>
          <a:prstGeom prst="rect">
            <a:avLst/>
          </a:prstGeom>
          <a:solidFill>
            <a:srgbClr val="1A2237"/>
          </a:solidFill>
          <a:ln w="12700">
            <a:solidFill>
              <a:srgbClr val="6C63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81344" y="2176272"/>
            <a:ext cx="2743200" cy="64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231343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91072" y="277063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Уникальное преимущество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291072" y="3319272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специализированный SaaS для семантического анализа текстовых продаж в РФ. Покрывает слепую зону, которую не видит ни одна существующая система.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721</Words>
  <Application>Microsoft Macintosh PowerPoint</Application>
  <PresentationFormat>Экран (16:9)</PresentationFormat>
  <Paragraphs>124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NeuroAudit AI</dc:title>
  <dc:subject>PptxGenJS Presentation</dc:subject>
  <dc:creator>PptxGenJS</dc:creator>
  <cp:lastModifiedBy>Тимофей Павленко</cp:lastModifiedBy>
  <cp:revision>2</cp:revision>
  <dcterms:created xsi:type="dcterms:W3CDTF">2026-02-22T23:06:20Z</dcterms:created>
  <dcterms:modified xsi:type="dcterms:W3CDTF">2026-02-22T23:10:21Z</dcterms:modified>
</cp:coreProperties>
</file>